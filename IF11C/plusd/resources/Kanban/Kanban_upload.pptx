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3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7" r:id="rId3"/>
    <p:sldId id="278" r:id="rId4"/>
    <p:sldId id="279" r:id="rId5"/>
    <p:sldId id="282" r:id="rId6"/>
    <p:sldId id="283" r:id="rId7"/>
    <p:sldId id="284" r:id="rId8"/>
    <p:sldId id="285" r:id="rId9"/>
    <p:sldId id="264" r:id="rId10"/>
    <p:sldId id="281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3C6"/>
    <a:srgbClr val="7A8C8E"/>
    <a:srgbClr val="58B6C0"/>
    <a:srgbClr val="84ACB6"/>
    <a:srgbClr val="FFFFFF"/>
    <a:srgbClr val="969FA7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97" d="100"/>
          <a:sy n="97" d="100"/>
        </p:scale>
        <p:origin x="37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94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CFCE86-267A-4EEF-B772-4061629D267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E87E863-A2A8-45B3-819C-4B1A7F82F514}">
      <dgm:prSet/>
      <dgm:spPr>
        <a:solidFill>
          <a:srgbClr val="84ACB6"/>
        </a:solidFill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de-DE" dirty="0">
            <a:solidFill>
              <a:srgbClr val="FFFFFF"/>
            </a:solidFill>
          </a:endParaRPr>
        </a:p>
      </dgm:t>
    </dgm:pt>
    <dgm:pt modelId="{5FF1688B-D5C6-44CB-BBB2-0BEC7DEEFC19}" type="parTrans" cxnId="{9A2C074F-A262-4858-A0D0-3AA22CA0772E}">
      <dgm:prSet/>
      <dgm:spPr/>
      <dgm:t>
        <a:bodyPr/>
        <a:lstStyle/>
        <a:p>
          <a:endParaRPr lang="de-DE"/>
        </a:p>
      </dgm:t>
    </dgm:pt>
    <dgm:pt modelId="{40DB8B9A-5FAD-4638-A914-BA97C923D704}" type="sibTrans" cxnId="{9A2C074F-A262-4858-A0D0-3AA22CA0772E}">
      <dgm:prSet/>
      <dgm:spPr/>
      <dgm:t>
        <a:bodyPr/>
        <a:lstStyle/>
        <a:p>
          <a:endParaRPr lang="de-DE"/>
        </a:p>
      </dgm:t>
    </dgm:pt>
    <dgm:pt modelId="{764651F8-F470-4B05-AB61-5006E38F852D}">
      <dgm:prSet/>
      <dgm:spPr/>
      <dgm:t>
        <a:bodyPr/>
        <a:lstStyle/>
        <a:p>
          <a:r>
            <a:rPr lang="de-DE" dirty="0"/>
            <a:t>Funktionsweise mit Beispiel</a:t>
          </a:r>
        </a:p>
      </dgm:t>
    </dgm:pt>
    <dgm:pt modelId="{0EF94665-B33B-4E99-9995-EB71E6DF0DF5}" type="parTrans" cxnId="{524C1A62-7963-4617-B5F2-28DB332F82DE}">
      <dgm:prSet/>
      <dgm:spPr/>
      <dgm:t>
        <a:bodyPr/>
        <a:lstStyle/>
        <a:p>
          <a:endParaRPr lang="de-DE"/>
        </a:p>
      </dgm:t>
    </dgm:pt>
    <dgm:pt modelId="{16479AEE-C49D-42C4-8F0F-5E8ADE9F4A2C}" type="sibTrans" cxnId="{524C1A62-7963-4617-B5F2-28DB332F82DE}">
      <dgm:prSet/>
      <dgm:spPr/>
      <dgm:t>
        <a:bodyPr/>
        <a:lstStyle/>
        <a:p>
          <a:endParaRPr lang="de-DE"/>
        </a:p>
      </dgm:t>
    </dgm:pt>
    <dgm:pt modelId="{9B513F53-E9DB-4241-B41A-1DADE1202503}">
      <dgm:prSet/>
      <dgm:spPr/>
      <dgm:t>
        <a:bodyPr/>
        <a:lstStyle/>
        <a:p>
          <a:r>
            <a:rPr lang="de-DE" dirty="0"/>
            <a:t>Vor- und Nachteile</a:t>
          </a:r>
        </a:p>
      </dgm:t>
    </dgm:pt>
    <dgm:pt modelId="{E9B7B643-5942-4E35-ABA0-F325BF89DB4C}" type="parTrans" cxnId="{8D1326B3-9670-446C-AA65-7520004F974C}">
      <dgm:prSet/>
      <dgm:spPr/>
      <dgm:t>
        <a:bodyPr/>
        <a:lstStyle/>
        <a:p>
          <a:endParaRPr lang="de-DE"/>
        </a:p>
      </dgm:t>
    </dgm:pt>
    <dgm:pt modelId="{068D7E4B-FB57-4E01-AAD2-BB2CE979BFFB}" type="sibTrans" cxnId="{8D1326B3-9670-446C-AA65-7520004F974C}">
      <dgm:prSet/>
      <dgm:spPr/>
      <dgm:t>
        <a:bodyPr/>
        <a:lstStyle/>
        <a:p>
          <a:endParaRPr lang="de-DE"/>
        </a:p>
      </dgm:t>
    </dgm:pt>
    <dgm:pt modelId="{25376450-B3D5-46F6-B38A-3CDD791134EC}">
      <dgm:prSet/>
      <dgm:spPr/>
      <dgm:t>
        <a:bodyPr/>
        <a:lstStyle/>
        <a:p>
          <a:r>
            <a:rPr lang="de-DE" dirty="0"/>
            <a:t>Quellen</a:t>
          </a:r>
        </a:p>
      </dgm:t>
    </dgm:pt>
    <dgm:pt modelId="{9A02DD51-A7BA-4965-946B-08A4936FB58D}" type="parTrans" cxnId="{9CC37F51-7E9F-453A-94EE-28EEC2DD7BE3}">
      <dgm:prSet/>
      <dgm:spPr/>
      <dgm:t>
        <a:bodyPr/>
        <a:lstStyle/>
        <a:p>
          <a:endParaRPr lang="de-DE"/>
        </a:p>
      </dgm:t>
    </dgm:pt>
    <dgm:pt modelId="{A714D172-6801-49DA-9F4D-D46E8EDC6E9B}" type="sibTrans" cxnId="{9CC37F51-7E9F-453A-94EE-28EEC2DD7BE3}">
      <dgm:prSet/>
      <dgm:spPr/>
      <dgm:t>
        <a:bodyPr/>
        <a:lstStyle/>
        <a:p>
          <a:endParaRPr lang="de-DE"/>
        </a:p>
      </dgm:t>
    </dgm:pt>
    <dgm:pt modelId="{A600AE15-E7E2-4F67-9955-6DB1FDA5F9C9}">
      <dgm:prSet/>
      <dgm:spPr>
        <a:solidFill>
          <a:srgbClr val="58B6C0"/>
        </a:solidFill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de-DE"/>
        </a:p>
      </dgm:t>
    </dgm:pt>
    <dgm:pt modelId="{AD087A5C-3A61-4021-8990-0E4EF6030D19}" type="parTrans" cxnId="{5BD83B20-3B47-49C6-9078-5D007AE387F0}">
      <dgm:prSet/>
      <dgm:spPr/>
      <dgm:t>
        <a:bodyPr/>
        <a:lstStyle/>
        <a:p>
          <a:endParaRPr lang="de-DE"/>
        </a:p>
      </dgm:t>
    </dgm:pt>
    <dgm:pt modelId="{D0394F98-42A5-4C3A-8F41-509379CD8C92}" type="sibTrans" cxnId="{5BD83B20-3B47-49C6-9078-5D007AE387F0}">
      <dgm:prSet/>
      <dgm:spPr/>
      <dgm:t>
        <a:bodyPr/>
        <a:lstStyle/>
        <a:p>
          <a:endParaRPr lang="de-DE"/>
        </a:p>
      </dgm:t>
    </dgm:pt>
    <dgm:pt modelId="{A4C48388-F085-4446-A570-8AFFEAC1D7D3}">
      <dgm:prSet/>
      <dgm:spPr>
        <a:solidFill>
          <a:srgbClr val="7A8C8E"/>
        </a:solidFill>
        <a:ln>
          <a:solidFill>
            <a:schemeClr val="accent4">
              <a:lumMod val="75000"/>
            </a:schemeClr>
          </a:solidFill>
        </a:ln>
      </dgm:spPr>
      <dgm:t>
        <a:bodyPr/>
        <a:lstStyle/>
        <a:p>
          <a:endParaRPr lang="de-DE" dirty="0"/>
        </a:p>
      </dgm:t>
    </dgm:pt>
    <dgm:pt modelId="{7BF7996B-1507-424E-B7CC-B2E5D32A04FF}" type="parTrans" cxnId="{03E0A60D-7BE4-4BA3-97B3-A493D6CC05A8}">
      <dgm:prSet/>
      <dgm:spPr/>
      <dgm:t>
        <a:bodyPr/>
        <a:lstStyle/>
        <a:p>
          <a:endParaRPr lang="de-DE"/>
        </a:p>
      </dgm:t>
    </dgm:pt>
    <dgm:pt modelId="{2C6DE0CD-A772-4963-AA6F-095E73881566}" type="sibTrans" cxnId="{03E0A60D-7BE4-4BA3-97B3-A493D6CC05A8}">
      <dgm:prSet/>
      <dgm:spPr/>
      <dgm:t>
        <a:bodyPr/>
        <a:lstStyle/>
        <a:p>
          <a:endParaRPr lang="de-DE"/>
        </a:p>
      </dgm:t>
    </dgm:pt>
    <dgm:pt modelId="{760D6B01-8CE9-4D6D-9262-E7D225381FEF}">
      <dgm:prSet/>
      <dgm:spPr>
        <a:solidFill>
          <a:srgbClr val="2683C6"/>
        </a:solidFill>
      </dgm:spPr>
      <dgm:t>
        <a:bodyPr/>
        <a:lstStyle/>
        <a:p>
          <a:endParaRPr lang="de-DE" dirty="0"/>
        </a:p>
      </dgm:t>
    </dgm:pt>
    <dgm:pt modelId="{0F001EF2-DCC9-49E2-8844-3D51CB096FD5}" type="parTrans" cxnId="{2E3B7738-995C-4AD9-99DC-1169EA96F282}">
      <dgm:prSet/>
      <dgm:spPr/>
      <dgm:t>
        <a:bodyPr/>
        <a:lstStyle/>
        <a:p>
          <a:endParaRPr lang="de-DE"/>
        </a:p>
      </dgm:t>
    </dgm:pt>
    <dgm:pt modelId="{0526474D-7391-454F-B6F4-3F83C1F6B75F}" type="sibTrans" cxnId="{2E3B7738-995C-4AD9-99DC-1169EA96F282}">
      <dgm:prSet/>
      <dgm:spPr/>
      <dgm:t>
        <a:bodyPr/>
        <a:lstStyle/>
        <a:p>
          <a:endParaRPr lang="de-DE"/>
        </a:p>
      </dgm:t>
    </dgm:pt>
    <dgm:pt modelId="{20E9231F-6A6E-429B-B954-38DAAFC3EA3A}">
      <dgm:prSet/>
      <dgm:spPr/>
      <dgm:t>
        <a:bodyPr/>
        <a:lstStyle/>
        <a:p>
          <a:r>
            <a:rPr lang="en-US"/>
            <a:t>Ursprünge</a:t>
          </a:r>
          <a:endParaRPr lang="de-DE" dirty="0"/>
        </a:p>
      </dgm:t>
    </dgm:pt>
    <dgm:pt modelId="{1F7D5A30-D4BA-4905-9964-9996E6DF2F45}" type="sibTrans" cxnId="{BDEEFE6B-096C-444F-81C7-2C4091A97F2E}">
      <dgm:prSet/>
      <dgm:spPr/>
      <dgm:t>
        <a:bodyPr/>
        <a:lstStyle/>
        <a:p>
          <a:endParaRPr lang="de-DE"/>
        </a:p>
      </dgm:t>
    </dgm:pt>
    <dgm:pt modelId="{07228C52-22FC-40E9-A777-089CCD3D0069}" type="parTrans" cxnId="{BDEEFE6B-096C-444F-81C7-2C4091A97F2E}">
      <dgm:prSet/>
      <dgm:spPr/>
      <dgm:t>
        <a:bodyPr/>
        <a:lstStyle/>
        <a:p>
          <a:endParaRPr lang="de-DE"/>
        </a:p>
      </dgm:t>
    </dgm:pt>
    <dgm:pt modelId="{97A9DDC3-1CC3-4B34-94BD-ECBE7C4213C0}" type="pres">
      <dgm:prSet presAssocID="{D0CFCE86-267A-4EEF-B772-4061629D2670}" presName="linearFlow" presStyleCnt="0">
        <dgm:presLayoutVars>
          <dgm:dir/>
          <dgm:animLvl val="lvl"/>
          <dgm:resizeHandles val="exact"/>
        </dgm:presLayoutVars>
      </dgm:prSet>
      <dgm:spPr/>
    </dgm:pt>
    <dgm:pt modelId="{DB0474C1-5976-44BB-BA3B-B39494EFDAE3}" type="pres">
      <dgm:prSet presAssocID="{BE87E863-A2A8-45B3-819C-4B1A7F82F514}" presName="composite" presStyleCnt="0"/>
      <dgm:spPr/>
    </dgm:pt>
    <dgm:pt modelId="{F57BD5CE-065D-41C5-8A3E-2B6CC424F084}" type="pres">
      <dgm:prSet presAssocID="{BE87E863-A2A8-45B3-819C-4B1A7F82F514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80EFB892-5DC9-412A-8024-5FCC730724E2}" type="pres">
      <dgm:prSet presAssocID="{BE87E863-A2A8-45B3-819C-4B1A7F82F514}" presName="descendantText" presStyleLbl="alignAcc1" presStyleIdx="0" presStyleCnt="4">
        <dgm:presLayoutVars>
          <dgm:bulletEnabled val="1"/>
        </dgm:presLayoutVars>
      </dgm:prSet>
      <dgm:spPr/>
    </dgm:pt>
    <dgm:pt modelId="{8973009F-75E5-49AF-9DA7-A81FAB6214D1}" type="pres">
      <dgm:prSet presAssocID="{40DB8B9A-5FAD-4638-A914-BA97C923D704}" presName="sp" presStyleCnt="0"/>
      <dgm:spPr/>
    </dgm:pt>
    <dgm:pt modelId="{C54F9D75-2332-4F6C-A269-30FF1562D8D8}" type="pres">
      <dgm:prSet presAssocID="{A600AE15-E7E2-4F67-9955-6DB1FDA5F9C9}" presName="composite" presStyleCnt="0"/>
      <dgm:spPr/>
    </dgm:pt>
    <dgm:pt modelId="{6E1DBE4A-DDAC-4C3E-8669-D66E787FB50B}" type="pres">
      <dgm:prSet presAssocID="{A600AE15-E7E2-4F67-9955-6DB1FDA5F9C9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4FCF22E-C255-4E39-8701-2643373BF137}" type="pres">
      <dgm:prSet presAssocID="{A600AE15-E7E2-4F67-9955-6DB1FDA5F9C9}" presName="descendantText" presStyleLbl="alignAcc1" presStyleIdx="1" presStyleCnt="4">
        <dgm:presLayoutVars>
          <dgm:bulletEnabled val="1"/>
        </dgm:presLayoutVars>
      </dgm:prSet>
      <dgm:spPr/>
    </dgm:pt>
    <dgm:pt modelId="{53EC3E84-E9AE-49BE-8D6A-38340E173F4F}" type="pres">
      <dgm:prSet presAssocID="{D0394F98-42A5-4C3A-8F41-509379CD8C92}" presName="sp" presStyleCnt="0"/>
      <dgm:spPr/>
    </dgm:pt>
    <dgm:pt modelId="{6478EAE3-746F-4F58-8D5D-44BB6BD92F53}" type="pres">
      <dgm:prSet presAssocID="{A4C48388-F085-4446-A570-8AFFEAC1D7D3}" presName="composite" presStyleCnt="0"/>
      <dgm:spPr/>
    </dgm:pt>
    <dgm:pt modelId="{EAA48D7E-A5E6-4B75-8B94-A4C6AF7089AF}" type="pres">
      <dgm:prSet presAssocID="{A4C48388-F085-4446-A570-8AFFEAC1D7D3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A04A16E0-49FE-44E1-A4D5-4C283BC2E7E9}" type="pres">
      <dgm:prSet presAssocID="{A4C48388-F085-4446-A570-8AFFEAC1D7D3}" presName="descendantText" presStyleLbl="alignAcc1" presStyleIdx="2" presStyleCnt="4">
        <dgm:presLayoutVars>
          <dgm:bulletEnabled val="1"/>
        </dgm:presLayoutVars>
      </dgm:prSet>
      <dgm:spPr/>
    </dgm:pt>
    <dgm:pt modelId="{55BCDA41-727E-471C-A6EE-DD5E03FFE421}" type="pres">
      <dgm:prSet presAssocID="{2C6DE0CD-A772-4963-AA6F-095E73881566}" presName="sp" presStyleCnt="0"/>
      <dgm:spPr/>
    </dgm:pt>
    <dgm:pt modelId="{19DC3922-FCA0-4CC9-9580-E475A0C28FBD}" type="pres">
      <dgm:prSet presAssocID="{760D6B01-8CE9-4D6D-9262-E7D225381FEF}" presName="composite" presStyleCnt="0"/>
      <dgm:spPr/>
    </dgm:pt>
    <dgm:pt modelId="{0AC27843-A1C6-4E22-8729-89FB36A02CED}" type="pres">
      <dgm:prSet presAssocID="{760D6B01-8CE9-4D6D-9262-E7D225381FEF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7D261085-5C77-417B-83B1-0174F5544A23}" type="pres">
      <dgm:prSet presAssocID="{760D6B01-8CE9-4D6D-9262-E7D225381FEF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3E0A60D-7BE4-4BA3-97B3-A493D6CC05A8}" srcId="{D0CFCE86-267A-4EEF-B772-4061629D2670}" destId="{A4C48388-F085-4446-A570-8AFFEAC1D7D3}" srcOrd="2" destOrd="0" parTransId="{7BF7996B-1507-424E-B7CC-B2E5D32A04FF}" sibTransId="{2C6DE0CD-A772-4963-AA6F-095E73881566}"/>
    <dgm:cxn modelId="{BBB6F611-E695-4692-AC7E-3DE7D74E2332}" type="presOf" srcId="{BE87E863-A2A8-45B3-819C-4B1A7F82F514}" destId="{F57BD5CE-065D-41C5-8A3E-2B6CC424F084}" srcOrd="0" destOrd="0" presId="urn:microsoft.com/office/officeart/2005/8/layout/chevron2"/>
    <dgm:cxn modelId="{5BD83B20-3B47-49C6-9078-5D007AE387F0}" srcId="{D0CFCE86-267A-4EEF-B772-4061629D2670}" destId="{A600AE15-E7E2-4F67-9955-6DB1FDA5F9C9}" srcOrd="1" destOrd="0" parTransId="{AD087A5C-3A61-4021-8990-0E4EF6030D19}" sibTransId="{D0394F98-42A5-4C3A-8F41-509379CD8C92}"/>
    <dgm:cxn modelId="{2D7C1031-A2CC-4020-9CC1-6761A13664BA}" type="presOf" srcId="{20E9231F-6A6E-429B-B954-38DAAFC3EA3A}" destId="{80EFB892-5DC9-412A-8024-5FCC730724E2}" srcOrd="0" destOrd="0" presId="urn:microsoft.com/office/officeart/2005/8/layout/chevron2"/>
    <dgm:cxn modelId="{2E3B7738-995C-4AD9-99DC-1169EA96F282}" srcId="{D0CFCE86-267A-4EEF-B772-4061629D2670}" destId="{760D6B01-8CE9-4D6D-9262-E7D225381FEF}" srcOrd="3" destOrd="0" parTransId="{0F001EF2-DCC9-49E2-8844-3D51CB096FD5}" sibTransId="{0526474D-7391-454F-B6F4-3F83C1F6B75F}"/>
    <dgm:cxn modelId="{524C1A62-7963-4617-B5F2-28DB332F82DE}" srcId="{A600AE15-E7E2-4F67-9955-6DB1FDA5F9C9}" destId="{764651F8-F470-4B05-AB61-5006E38F852D}" srcOrd="0" destOrd="0" parTransId="{0EF94665-B33B-4E99-9995-EB71E6DF0DF5}" sibTransId="{16479AEE-C49D-42C4-8F0F-5E8ADE9F4A2C}"/>
    <dgm:cxn modelId="{2F014768-8E0D-4C5E-98DC-161C7ABCEF53}" type="presOf" srcId="{760D6B01-8CE9-4D6D-9262-E7D225381FEF}" destId="{0AC27843-A1C6-4E22-8729-89FB36A02CED}" srcOrd="0" destOrd="0" presId="urn:microsoft.com/office/officeart/2005/8/layout/chevron2"/>
    <dgm:cxn modelId="{BDEEFE6B-096C-444F-81C7-2C4091A97F2E}" srcId="{BE87E863-A2A8-45B3-819C-4B1A7F82F514}" destId="{20E9231F-6A6E-429B-B954-38DAAFC3EA3A}" srcOrd="0" destOrd="0" parTransId="{07228C52-22FC-40E9-A777-089CCD3D0069}" sibTransId="{1F7D5A30-D4BA-4905-9964-9996E6DF2F45}"/>
    <dgm:cxn modelId="{D1D0594C-C63F-48C0-BDDD-88E99FE80C90}" type="presOf" srcId="{9B513F53-E9DB-4241-B41A-1DADE1202503}" destId="{A04A16E0-49FE-44E1-A4D5-4C283BC2E7E9}" srcOrd="0" destOrd="0" presId="urn:microsoft.com/office/officeart/2005/8/layout/chevron2"/>
    <dgm:cxn modelId="{9A2C074F-A262-4858-A0D0-3AA22CA0772E}" srcId="{D0CFCE86-267A-4EEF-B772-4061629D2670}" destId="{BE87E863-A2A8-45B3-819C-4B1A7F82F514}" srcOrd="0" destOrd="0" parTransId="{5FF1688B-D5C6-44CB-BBB2-0BEC7DEEFC19}" sibTransId="{40DB8B9A-5FAD-4638-A914-BA97C923D704}"/>
    <dgm:cxn modelId="{9CC37F51-7E9F-453A-94EE-28EEC2DD7BE3}" srcId="{760D6B01-8CE9-4D6D-9262-E7D225381FEF}" destId="{25376450-B3D5-46F6-B38A-3CDD791134EC}" srcOrd="0" destOrd="0" parTransId="{9A02DD51-A7BA-4965-946B-08A4936FB58D}" sibTransId="{A714D172-6801-49DA-9F4D-D46E8EDC6E9B}"/>
    <dgm:cxn modelId="{7AB0057C-BB4E-475E-BCF8-D375CA13BCFC}" type="presOf" srcId="{25376450-B3D5-46F6-B38A-3CDD791134EC}" destId="{7D261085-5C77-417B-83B1-0174F5544A23}" srcOrd="0" destOrd="0" presId="urn:microsoft.com/office/officeart/2005/8/layout/chevron2"/>
    <dgm:cxn modelId="{E2D11F9B-4BC4-4B48-955E-B197920F72D2}" type="presOf" srcId="{A4C48388-F085-4446-A570-8AFFEAC1D7D3}" destId="{EAA48D7E-A5E6-4B75-8B94-A4C6AF7089AF}" srcOrd="0" destOrd="0" presId="urn:microsoft.com/office/officeart/2005/8/layout/chevron2"/>
    <dgm:cxn modelId="{8D1326B3-9670-446C-AA65-7520004F974C}" srcId="{A4C48388-F085-4446-A570-8AFFEAC1D7D3}" destId="{9B513F53-E9DB-4241-B41A-1DADE1202503}" srcOrd="0" destOrd="0" parTransId="{E9B7B643-5942-4E35-ABA0-F325BF89DB4C}" sibTransId="{068D7E4B-FB57-4E01-AAD2-BB2CE979BFFB}"/>
    <dgm:cxn modelId="{8A9DABC6-DA94-4D91-A0A1-79FB37475576}" type="presOf" srcId="{D0CFCE86-267A-4EEF-B772-4061629D2670}" destId="{97A9DDC3-1CC3-4B34-94BD-ECBE7C4213C0}" srcOrd="0" destOrd="0" presId="urn:microsoft.com/office/officeart/2005/8/layout/chevron2"/>
    <dgm:cxn modelId="{223F28D7-9BF9-4B33-B7F5-2DA4658DB07F}" type="presOf" srcId="{764651F8-F470-4B05-AB61-5006E38F852D}" destId="{74FCF22E-C255-4E39-8701-2643373BF137}" srcOrd="0" destOrd="0" presId="urn:microsoft.com/office/officeart/2005/8/layout/chevron2"/>
    <dgm:cxn modelId="{C52AF2F0-6DFE-466F-B154-FA114A6F7271}" type="presOf" srcId="{A600AE15-E7E2-4F67-9955-6DB1FDA5F9C9}" destId="{6E1DBE4A-DDAC-4C3E-8669-D66E787FB50B}" srcOrd="0" destOrd="0" presId="urn:microsoft.com/office/officeart/2005/8/layout/chevron2"/>
    <dgm:cxn modelId="{D1374DA9-06AE-4406-AA9A-3DD57BCB5B44}" type="presParOf" srcId="{97A9DDC3-1CC3-4B34-94BD-ECBE7C4213C0}" destId="{DB0474C1-5976-44BB-BA3B-B39494EFDAE3}" srcOrd="0" destOrd="0" presId="urn:microsoft.com/office/officeart/2005/8/layout/chevron2"/>
    <dgm:cxn modelId="{226CA0BE-C78A-499B-82AB-8C781FB975A5}" type="presParOf" srcId="{DB0474C1-5976-44BB-BA3B-B39494EFDAE3}" destId="{F57BD5CE-065D-41C5-8A3E-2B6CC424F084}" srcOrd="0" destOrd="0" presId="urn:microsoft.com/office/officeart/2005/8/layout/chevron2"/>
    <dgm:cxn modelId="{096CD812-F400-48D8-8584-819C4293ACE7}" type="presParOf" srcId="{DB0474C1-5976-44BB-BA3B-B39494EFDAE3}" destId="{80EFB892-5DC9-412A-8024-5FCC730724E2}" srcOrd="1" destOrd="0" presId="urn:microsoft.com/office/officeart/2005/8/layout/chevron2"/>
    <dgm:cxn modelId="{C3AB396A-45BC-493D-8F7B-CE6F4F6F7A44}" type="presParOf" srcId="{97A9DDC3-1CC3-4B34-94BD-ECBE7C4213C0}" destId="{8973009F-75E5-49AF-9DA7-A81FAB6214D1}" srcOrd="1" destOrd="0" presId="urn:microsoft.com/office/officeart/2005/8/layout/chevron2"/>
    <dgm:cxn modelId="{72CC6966-3A0D-4409-B87A-E02D1833C815}" type="presParOf" srcId="{97A9DDC3-1CC3-4B34-94BD-ECBE7C4213C0}" destId="{C54F9D75-2332-4F6C-A269-30FF1562D8D8}" srcOrd="2" destOrd="0" presId="urn:microsoft.com/office/officeart/2005/8/layout/chevron2"/>
    <dgm:cxn modelId="{96CF8851-C356-457D-BBAA-B338B21C1BA5}" type="presParOf" srcId="{C54F9D75-2332-4F6C-A269-30FF1562D8D8}" destId="{6E1DBE4A-DDAC-4C3E-8669-D66E787FB50B}" srcOrd="0" destOrd="0" presId="urn:microsoft.com/office/officeart/2005/8/layout/chevron2"/>
    <dgm:cxn modelId="{A82211CF-BBE6-41DA-B3F8-C6B6FC2DE5E8}" type="presParOf" srcId="{C54F9D75-2332-4F6C-A269-30FF1562D8D8}" destId="{74FCF22E-C255-4E39-8701-2643373BF137}" srcOrd="1" destOrd="0" presId="urn:microsoft.com/office/officeart/2005/8/layout/chevron2"/>
    <dgm:cxn modelId="{922E144A-AE28-4710-B46D-B91D00806A0E}" type="presParOf" srcId="{97A9DDC3-1CC3-4B34-94BD-ECBE7C4213C0}" destId="{53EC3E84-E9AE-49BE-8D6A-38340E173F4F}" srcOrd="3" destOrd="0" presId="urn:microsoft.com/office/officeart/2005/8/layout/chevron2"/>
    <dgm:cxn modelId="{B2D80FC4-5059-4954-A701-FD765A977E3A}" type="presParOf" srcId="{97A9DDC3-1CC3-4B34-94BD-ECBE7C4213C0}" destId="{6478EAE3-746F-4F58-8D5D-44BB6BD92F53}" srcOrd="4" destOrd="0" presId="urn:microsoft.com/office/officeart/2005/8/layout/chevron2"/>
    <dgm:cxn modelId="{6EEB725A-C24A-4A4C-BF69-E977DA833811}" type="presParOf" srcId="{6478EAE3-746F-4F58-8D5D-44BB6BD92F53}" destId="{EAA48D7E-A5E6-4B75-8B94-A4C6AF7089AF}" srcOrd="0" destOrd="0" presId="urn:microsoft.com/office/officeart/2005/8/layout/chevron2"/>
    <dgm:cxn modelId="{00C402EA-2A85-4B6C-AF9F-B52B2ADA1142}" type="presParOf" srcId="{6478EAE3-746F-4F58-8D5D-44BB6BD92F53}" destId="{A04A16E0-49FE-44E1-A4D5-4C283BC2E7E9}" srcOrd="1" destOrd="0" presId="urn:microsoft.com/office/officeart/2005/8/layout/chevron2"/>
    <dgm:cxn modelId="{B56FB417-86ED-45E8-BA16-F5A186348480}" type="presParOf" srcId="{97A9DDC3-1CC3-4B34-94BD-ECBE7C4213C0}" destId="{55BCDA41-727E-471C-A6EE-DD5E03FFE421}" srcOrd="5" destOrd="0" presId="urn:microsoft.com/office/officeart/2005/8/layout/chevron2"/>
    <dgm:cxn modelId="{057C9F73-642F-4CB5-835A-68251C714712}" type="presParOf" srcId="{97A9DDC3-1CC3-4B34-94BD-ECBE7C4213C0}" destId="{19DC3922-FCA0-4CC9-9580-E475A0C28FBD}" srcOrd="6" destOrd="0" presId="urn:microsoft.com/office/officeart/2005/8/layout/chevron2"/>
    <dgm:cxn modelId="{EC51EFFE-E203-4A8D-8525-352CF4DFF9B6}" type="presParOf" srcId="{19DC3922-FCA0-4CC9-9580-E475A0C28FBD}" destId="{0AC27843-A1C6-4E22-8729-89FB36A02CED}" srcOrd="0" destOrd="0" presId="urn:microsoft.com/office/officeart/2005/8/layout/chevron2"/>
    <dgm:cxn modelId="{0E63413E-6A40-4A1C-820D-7209A3BE0D8D}" type="presParOf" srcId="{19DC3922-FCA0-4CC9-9580-E475A0C28FBD}" destId="{7D261085-5C77-417B-83B1-0174F5544A2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BD5CE-065D-41C5-8A3E-2B6CC424F084}">
      <dsp:nvSpPr>
        <dsp:cNvPr id="0" name=""/>
        <dsp:cNvSpPr/>
      </dsp:nvSpPr>
      <dsp:spPr>
        <a:xfrm rot="5400000">
          <a:off x="-198823" y="203186"/>
          <a:ext cx="1325492" cy="927844"/>
        </a:xfrm>
        <a:prstGeom prst="chevron">
          <a:avLst/>
        </a:prstGeom>
        <a:solidFill>
          <a:srgbClr val="84ACB6"/>
        </a:solidFill>
        <a:ln w="1270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>
            <a:solidFill>
              <a:srgbClr val="FFFFFF"/>
            </a:solidFill>
          </a:endParaRPr>
        </a:p>
      </dsp:txBody>
      <dsp:txXfrm rot="-5400000">
        <a:off x="1" y="468284"/>
        <a:ext cx="927844" cy="397648"/>
      </dsp:txXfrm>
    </dsp:sp>
    <dsp:sp modelId="{80EFB892-5DC9-412A-8024-5FCC730724E2}">
      <dsp:nvSpPr>
        <dsp:cNvPr id="0" name=""/>
        <dsp:cNvSpPr/>
      </dsp:nvSpPr>
      <dsp:spPr>
        <a:xfrm rot="5400000">
          <a:off x="3119237" y="-2187029"/>
          <a:ext cx="861570" cy="5244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Ursprünge</a:t>
          </a:r>
          <a:endParaRPr lang="de-DE" sz="3200" kern="1200" dirty="0"/>
        </a:p>
      </dsp:txBody>
      <dsp:txXfrm rot="-5400000">
        <a:off x="927845" y="46421"/>
        <a:ext cx="5202297" cy="777454"/>
      </dsp:txXfrm>
    </dsp:sp>
    <dsp:sp modelId="{6E1DBE4A-DDAC-4C3E-8669-D66E787FB50B}">
      <dsp:nvSpPr>
        <dsp:cNvPr id="0" name=""/>
        <dsp:cNvSpPr/>
      </dsp:nvSpPr>
      <dsp:spPr>
        <a:xfrm rot="5400000">
          <a:off x="-198823" y="1382988"/>
          <a:ext cx="1325492" cy="927844"/>
        </a:xfrm>
        <a:prstGeom prst="chevron">
          <a:avLst/>
        </a:prstGeom>
        <a:solidFill>
          <a:srgbClr val="58B6C0"/>
        </a:solidFill>
        <a:ln w="1270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/>
        </a:p>
      </dsp:txBody>
      <dsp:txXfrm rot="-5400000">
        <a:off x="1" y="1648086"/>
        <a:ext cx="927844" cy="397648"/>
      </dsp:txXfrm>
    </dsp:sp>
    <dsp:sp modelId="{74FCF22E-C255-4E39-8701-2643373BF137}">
      <dsp:nvSpPr>
        <dsp:cNvPr id="0" name=""/>
        <dsp:cNvSpPr/>
      </dsp:nvSpPr>
      <dsp:spPr>
        <a:xfrm rot="5400000">
          <a:off x="3119237" y="-1007227"/>
          <a:ext cx="861570" cy="5244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200" kern="1200" dirty="0"/>
            <a:t>Funktionsweise mit Beispiel</a:t>
          </a:r>
        </a:p>
      </dsp:txBody>
      <dsp:txXfrm rot="-5400000">
        <a:off x="927845" y="1226223"/>
        <a:ext cx="5202297" cy="777454"/>
      </dsp:txXfrm>
    </dsp:sp>
    <dsp:sp modelId="{EAA48D7E-A5E6-4B75-8B94-A4C6AF7089AF}">
      <dsp:nvSpPr>
        <dsp:cNvPr id="0" name=""/>
        <dsp:cNvSpPr/>
      </dsp:nvSpPr>
      <dsp:spPr>
        <a:xfrm rot="5400000">
          <a:off x="-198823" y="2562791"/>
          <a:ext cx="1325492" cy="927844"/>
        </a:xfrm>
        <a:prstGeom prst="chevron">
          <a:avLst/>
        </a:prstGeom>
        <a:solidFill>
          <a:srgbClr val="7A8C8E"/>
        </a:solidFill>
        <a:ln w="12700" cap="flat" cmpd="sng" algn="ctr">
          <a:solidFill>
            <a:schemeClr val="accent4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2827889"/>
        <a:ext cx="927844" cy="397648"/>
      </dsp:txXfrm>
    </dsp:sp>
    <dsp:sp modelId="{A04A16E0-49FE-44E1-A4D5-4C283BC2E7E9}">
      <dsp:nvSpPr>
        <dsp:cNvPr id="0" name=""/>
        <dsp:cNvSpPr/>
      </dsp:nvSpPr>
      <dsp:spPr>
        <a:xfrm rot="5400000">
          <a:off x="3119237" y="172574"/>
          <a:ext cx="861570" cy="5244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200" kern="1200" dirty="0"/>
            <a:t>Vor- und Nachteile</a:t>
          </a:r>
        </a:p>
      </dsp:txBody>
      <dsp:txXfrm rot="-5400000">
        <a:off x="927845" y="2406024"/>
        <a:ext cx="5202297" cy="777454"/>
      </dsp:txXfrm>
    </dsp:sp>
    <dsp:sp modelId="{0AC27843-A1C6-4E22-8729-89FB36A02CED}">
      <dsp:nvSpPr>
        <dsp:cNvPr id="0" name=""/>
        <dsp:cNvSpPr/>
      </dsp:nvSpPr>
      <dsp:spPr>
        <a:xfrm rot="5400000">
          <a:off x="-198823" y="3742593"/>
          <a:ext cx="1325492" cy="927844"/>
        </a:xfrm>
        <a:prstGeom prst="chevron">
          <a:avLst/>
        </a:prstGeom>
        <a:solidFill>
          <a:srgbClr val="2683C6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4007691"/>
        <a:ext cx="927844" cy="397648"/>
      </dsp:txXfrm>
    </dsp:sp>
    <dsp:sp modelId="{7D261085-5C77-417B-83B1-0174F5544A23}">
      <dsp:nvSpPr>
        <dsp:cNvPr id="0" name=""/>
        <dsp:cNvSpPr/>
      </dsp:nvSpPr>
      <dsp:spPr>
        <a:xfrm rot="5400000">
          <a:off x="3119237" y="1352377"/>
          <a:ext cx="861570" cy="5244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200" kern="1200" dirty="0"/>
            <a:t>Quellen</a:t>
          </a:r>
        </a:p>
      </dsp:txBody>
      <dsp:txXfrm rot="-5400000">
        <a:off x="927845" y="3585827"/>
        <a:ext cx="5202297" cy="777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53788C-A9B9-4D08-9941-6F460BAFC4D0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DAE4046-99D5-4A9B-A4E7-E29AC2CC86BE}" type="datetime1">
              <a:rPr lang="de-DE" smtClean="0"/>
              <a:t>23.12.2021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6092-1DB4-4EB8-8C1A-5DFB79DE1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473CC-F049-4331-9F26-C2C86EC43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4EF49-D8BF-48B8-B6EF-EBFD31D5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187B-757A-476E-B6CF-C8CD50CD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CCFD4-3008-43D1-9F78-5EE831CA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387795"/>
      </p:ext>
    </p:extLst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8555-5837-477B-BBC3-0FE31FE2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3D59A-7B20-4FF9-9B0B-AAC8B6A20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3EC52-7132-4983-BE34-6BF56E67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6000" y="6563995"/>
            <a:ext cx="2565400" cy="228600"/>
          </a:xfrm>
        </p:spPr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F37B3-0CB8-4103-B909-F89C62443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3995"/>
            <a:ext cx="4114800" cy="228600"/>
          </a:xfrm>
        </p:spPr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B043A-72FA-48DB-AF1D-0B9126F5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788552"/>
      </p:ext>
    </p:extLst>
  </p:cSld>
  <p:clrMapOvr>
    <a:masterClrMapping/>
  </p:clrMapOvr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8B8C-607F-4849-917F-465B2C5D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1A8CB-4FB9-4315-85A1-91D5FC20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784EE-608B-4313-9BA2-8B7F89CBD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5D1F6-137F-4F02-9DE8-0F1950ACA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C9633-3C6A-417E-8767-B61244B8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13486"/>
      </p:ext>
    </p:extLst>
  </p:cSld>
  <p:clrMapOvr>
    <a:masterClrMapping/>
  </p:clrMapOvr>
  <p:hf sldNum="0"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1404-C620-43F6-8169-40368DDD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B24AB-6644-4CFE-AE1A-10F32FCD1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A7F57-E7E8-4395-8518-16B6A4825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2D6BD-EE33-494F-B072-8DD06B01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5F2FD-CA3E-45EB-B3B6-204ACD5F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D756F-3326-472D-8DDB-026E6095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053853"/>
      </p:ext>
    </p:extLst>
  </p:cSld>
  <p:clrMapOvr>
    <a:masterClrMapping/>
  </p:clrMapOvr>
  <p:hf sldNum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A4BF-EED3-4211-9951-814D21410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F931F-21AB-41FB-8A90-CA9DFB63F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46F2D-F564-4E1F-81F7-EB16F12CA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BA087-2CF8-4606-BCAB-BEC7FB675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1B786-F2CD-4285-BEEA-E1B83E097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B85E0-EB4A-4EC7-A498-EB7AEFBE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CBDDB-B249-425D-8C5C-569F1142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1F03B-625B-47C8-96A2-391962EB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90682"/>
      </p:ext>
    </p:extLst>
  </p:cSld>
  <p:clrMapOvr>
    <a:masterClrMapping/>
  </p:clrMapOvr>
  <p:hf sldNum="0"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94F0-0D4E-482D-88C8-466DFEFC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59E2D-B5B4-4EEE-8DD3-39858F49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2AA5B-5A40-42FD-8A36-2561C949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1862C-CD71-44D1-B986-E597DF4C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00954"/>
      </p:ext>
    </p:extLst>
  </p:cSld>
  <p:clrMapOvr>
    <a:masterClrMapping/>
  </p:clrMapOvr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0A441-70D9-4268-BC5D-4C98ED0E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978E8-21CB-413E-9525-C3CE2426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7CFBF-F118-4671-B70E-BFA06DD44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483228"/>
      </p:ext>
    </p:extLst>
  </p:cSld>
  <p:clrMapOvr>
    <a:masterClrMapping/>
  </p:clrMapOvr>
  <p:hf sldNum="0"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07159-9AB3-41DB-958C-0186A8C3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2ABDB-7F24-4571-B32E-3FBF8A74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18235-5561-4D3B-9A3B-F59ECFAF3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F83B3-9BFB-4BA6-894F-1A636DFC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AF18C-1381-4C69-B78B-5519AD80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256C1-FB1F-432A-BA92-6D21E12B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57754"/>
      </p:ext>
    </p:extLst>
  </p:cSld>
  <p:clrMapOvr>
    <a:masterClrMapping/>
  </p:clrMapOvr>
  <p:hf sldNum="0"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0F80-36EF-441B-9B47-DCC1C042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6C56C-E28D-4679-AAA8-DD75B51D8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4C3AF-EAA2-4F69-8921-AF7667CE8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12272-D1FB-455B-974E-7D027C14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7C8F0-BCDD-4152-A7F9-76703BF9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6BFB5-C779-4F40-AF72-DED788E3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211796"/>
      </p:ext>
    </p:extLst>
  </p:cSld>
  <p:clrMapOvr>
    <a:masterClrMapping/>
  </p:clrMapOvr>
  <p:hf sldNum="0"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B2FF-639C-4343-ACBE-3A457920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A19AD-D25C-44B7-A73A-FB5BCDBDC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81352-61FB-4FDE-B33E-E971AEA63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11D85-BC6B-43A3-9DCA-927A01E1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6C54C-7AE1-45D6-BDDD-23EE9763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8639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D03F79-A34E-4E8B-9801-76CF84029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8056-394E-489A-82F0-1CCC47BC5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07400-6D78-4B15-A5C0-28C0413C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1FD891-7F08-4DB0-9FE2-2293B8FA188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B3CBA-D761-46F9-B915-CB184E711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627CF-B9C6-4F06-91B9-5FAAB3DF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67457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9AFAD9-4A9A-405E-990B-050848E8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F9817-10D3-4C18-AF12-99DA9B13B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33323-CC9D-4935-9F13-8C376EEE9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7440" y="6563995"/>
            <a:ext cx="24739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1FD891-7F08-4DB0-9FE2-2293B8FA188E}" type="datetime1">
              <a:rPr lang="de-DE" smtClean="0"/>
              <a:pPr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8C3F2-7513-4F15-9D50-F34BE26A6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99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B3CFC-C2AA-4D46-9DB7-710B6718F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15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5.svg"/><Relationship Id="rId10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10" Type="http://schemas.openxmlformats.org/officeDocument/2006/relationships/image" Target="../media/image10.jpeg"/><Relationship Id="rId4" Type="http://schemas.openxmlformats.org/officeDocument/2006/relationships/image" Target="../media/image2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3.sv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3.sv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ionos.de/digitalguide/websites/web-entwicklung/kanban/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12" Type="http://schemas.openxmlformats.org/officeDocument/2006/relationships/hyperlink" Target="https://kanbanize.com/de/kanban-ressourcen/kanban-erste-schritte/was-ist-kanban" TargetMode="External"/><Relationship Id="rId17" Type="http://schemas.openxmlformats.org/officeDocument/2006/relationships/hyperlink" Target="https://kanbantool.com/de/kanban-board" TargetMode="External"/><Relationship Id="rId2" Type="http://schemas.openxmlformats.org/officeDocument/2006/relationships/image" Target="../media/image4.png"/><Relationship Id="rId16" Type="http://schemas.openxmlformats.org/officeDocument/2006/relationships/hyperlink" Target="https://refa.de/service/refa-lexikon/kanba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hyperlink" Target="https://www.atlassian.com/de/agile/kanban" TargetMode="External"/><Relationship Id="rId5" Type="http://schemas.openxmlformats.org/officeDocument/2006/relationships/image" Target="../media/image3.svg"/><Relationship Id="rId15" Type="http://schemas.openxmlformats.org/officeDocument/2006/relationships/hyperlink" Target="https://www.lepros.de/Glossar/kanban.php" TargetMode="External"/><Relationship Id="rId10" Type="http://schemas.openxmlformats.org/officeDocument/2006/relationships/hyperlink" Target="https://www.it-agile.de/agiles-wissen/kanban/was-ist-kanban/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9.svg"/><Relationship Id="rId14" Type="http://schemas.openxmlformats.org/officeDocument/2006/relationships/hyperlink" Target="https://www.atlassian.com/de/software/ji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88640" y="233680"/>
            <a:ext cx="19060289" cy="639064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E7FFEE23-7135-4449-BFAC-E00F5C484448}"/>
              </a:ext>
            </a:extLst>
          </p:cNvPr>
          <p:cNvSpPr/>
          <p:nvPr/>
        </p:nvSpPr>
        <p:spPr>
          <a:xfrm>
            <a:off x="-91440" y="-101600"/>
            <a:ext cx="12385040" cy="7051040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63495B27-BC81-45EC-8BDF-67ADE2817B83}"/>
              </a:ext>
            </a:extLst>
          </p:cNvPr>
          <p:cNvSpPr/>
          <p:nvPr/>
        </p:nvSpPr>
        <p:spPr>
          <a:xfrm flipH="1">
            <a:off x="-528320" y="640080"/>
            <a:ext cx="4673600" cy="1239520"/>
          </a:xfrm>
          <a:custGeom>
            <a:avLst/>
            <a:gdLst>
              <a:gd name="connsiteX0" fmla="*/ 4500880 w 4500880"/>
              <a:gd name="connsiteY0" fmla="*/ 0 h 1239520"/>
              <a:gd name="connsiteX1" fmla="*/ 0 w 4500880"/>
              <a:gd name="connsiteY1" fmla="*/ 0 h 1239520"/>
              <a:gd name="connsiteX2" fmla="*/ 518160 w 4500880"/>
              <a:gd name="connsiteY2" fmla="*/ 1239520 h 1239520"/>
              <a:gd name="connsiteX3" fmla="*/ 4500880 w 4500880"/>
              <a:gd name="connsiteY3" fmla="*/ 1239520 h 1239520"/>
              <a:gd name="connsiteX4" fmla="*/ 4500880 w 4500880"/>
              <a:gd name="connsiteY4" fmla="*/ 0 h 123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00880" h="1239520">
                <a:moveTo>
                  <a:pt x="4500880" y="0"/>
                </a:moveTo>
                <a:lnTo>
                  <a:pt x="0" y="0"/>
                </a:lnTo>
                <a:lnTo>
                  <a:pt x="518160" y="1239520"/>
                </a:lnTo>
                <a:lnTo>
                  <a:pt x="4500880" y="1239520"/>
                </a:lnTo>
                <a:lnTo>
                  <a:pt x="450088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4800" y="404826"/>
            <a:ext cx="4246880" cy="1495094"/>
          </a:xfrm>
        </p:spPr>
        <p:txBody>
          <a:bodyPr rtlCol="0">
            <a:normAutofit/>
          </a:bodyPr>
          <a:lstStyle/>
          <a:p>
            <a:pPr rtl="0"/>
            <a:r>
              <a:rPr lang="de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Kanban</a:t>
            </a:r>
            <a:endParaRPr lang="de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196C623E-E1B3-4A1F-99CF-6A9C017E8B0C}"/>
              </a:ext>
            </a:extLst>
          </p:cNvPr>
          <p:cNvSpPr/>
          <p:nvPr/>
        </p:nvSpPr>
        <p:spPr>
          <a:xfrm>
            <a:off x="5892800" y="5425440"/>
            <a:ext cx="6614160" cy="406400"/>
          </a:xfrm>
          <a:custGeom>
            <a:avLst/>
            <a:gdLst>
              <a:gd name="connsiteX0" fmla="*/ 0 w 6400800"/>
              <a:gd name="connsiteY0" fmla="*/ 0 h 389996"/>
              <a:gd name="connsiteX1" fmla="*/ 2367280 w 6400800"/>
              <a:gd name="connsiteY1" fmla="*/ 0 h 389996"/>
              <a:gd name="connsiteX2" fmla="*/ 2550160 w 6400800"/>
              <a:gd name="connsiteY2" fmla="*/ 0 h 389996"/>
              <a:gd name="connsiteX3" fmla="*/ 6400800 w 6400800"/>
              <a:gd name="connsiteY3" fmla="*/ 0 h 389996"/>
              <a:gd name="connsiteX4" fmla="*/ 6400800 w 6400800"/>
              <a:gd name="connsiteY4" fmla="*/ 389995 h 389996"/>
              <a:gd name="connsiteX5" fmla="*/ 2550160 w 6400800"/>
              <a:gd name="connsiteY5" fmla="*/ 389995 h 389996"/>
              <a:gd name="connsiteX6" fmla="*/ 2550160 w 6400800"/>
              <a:gd name="connsiteY6" fmla="*/ 389996 h 389996"/>
              <a:gd name="connsiteX7" fmla="*/ 293585 w 6400800"/>
              <a:gd name="connsiteY7" fmla="*/ 389996 h 389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0800" h="389996">
                <a:moveTo>
                  <a:pt x="0" y="0"/>
                </a:moveTo>
                <a:lnTo>
                  <a:pt x="2367280" y="0"/>
                </a:lnTo>
                <a:lnTo>
                  <a:pt x="2550160" y="0"/>
                </a:lnTo>
                <a:lnTo>
                  <a:pt x="6400800" y="0"/>
                </a:lnTo>
                <a:lnTo>
                  <a:pt x="6400800" y="389995"/>
                </a:lnTo>
                <a:lnTo>
                  <a:pt x="2550160" y="389995"/>
                </a:lnTo>
                <a:lnTo>
                  <a:pt x="2550160" y="389996"/>
                </a:lnTo>
                <a:lnTo>
                  <a:pt x="293585" y="389996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9720" y="54418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de" dirty="0"/>
              <a:t>Sandra Saueressig, Kevin Klockow, Lijon Fogel</a:t>
            </a: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  <p:bldP spid="1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923267E-DB40-4D2D-BD52-83775668EC7B}"/>
              </a:ext>
            </a:extLst>
          </p:cNvPr>
          <p:cNvGrpSpPr/>
          <p:nvPr/>
        </p:nvGrpSpPr>
        <p:grpSpPr>
          <a:xfrm>
            <a:off x="-12214238" y="4445"/>
            <a:ext cx="13140715" cy="6858000"/>
            <a:chOff x="-2" y="-3"/>
            <a:chExt cx="1314071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2B826-D0A4-4835-A701-CB4919AE6047}"/>
                </a:ext>
              </a:extLst>
            </p:cNvPr>
            <p:cNvGrpSpPr/>
            <p:nvPr/>
          </p:nvGrpSpPr>
          <p:grpSpPr>
            <a:xfrm>
              <a:off x="-2" y="-3"/>
              <a:ext cx="13140715" cy="6858000"/>
              <a:chOff x="0" y="1"/>
              <a:chExt cx="13140715" cy="6858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AA2CF1B-FA35-494C-BE76-BE6D029A0EC3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1715400 h 6858000"/>
                  <a:gd name="connsiteX3" fmla="*/ 13140715 w 13140715"/>
                  <a:gd name="connsiteY3" fmla="*/ 1715400 h 6858000"/>
                  <a:gd name="connsiteX4" fmla="*/ 13140715 w 13140715"/>
                  <a:gd name="connsiteY4" fmla="*/ 3429000 h 6858000"/>
                  <a:gd name="connsiteX5" fmla="*/ 12192000 w 13140715"/>
                  <a:gd name="connsiteY5" fmla="*/ 34290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15400"/>
                    </a:lnTo>
                    <a:lnTo>
                      <a:pt x="13140715" y="1715400"/>
                    </a:lnTo>
                    <a:lnTo>
                      <a:pt x="13140715" y="3429000"/>
                    </a:lnTo>
                    <a:lnTo>
                      <a:pt x="12192000" y="34290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056B7F-8A20-4B8D-9331-17029663E904}"/>
                  </a:ext>
                </a:extLst>
              </p:cNvPr>
              <p:cNvSpPr/>
              <p:nvPr/>
            </p:nvSpPr>
            <p:spPr>
              <a:xfrm>
                <a:off x="1298157" y="363599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7" name="Grafik 6" descr="Zahnräder">
              <a:extLst>
                <a:ext uri="{FF2B5EF4-FFF2-40B4-BE49-F238E27FC236}">
                  <a16:creationId xmlns:a16="http://schemas.microsoft.com/office/drawing/2014/main" id="{AA67391B-3579-482C-9F0F-EB00BD58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0" y="2087880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ECE2F31-0E23-400B-A002-BC098780472E}"/>
              </a:ext>
            </a:extLst>
          </p:cNvPr>
          <p:cNvGrpSpPr/>
          <p:nvPr/>
        </p:nvGrpSpPr>
        <p:grpSpPr>
          <a:xfrm>
            <a:off x="-12214236" y="4449"/>
            <a:ext cx="13140715" cy="6858000"/>
            <a:chOff x="0" y="1"/>
            <a:chExt cx="13140715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201CE-F6C6-4664-981B-90FB3A163351}"/>
                </a:ext>
              </a:extLst>
            </p:cNvPr>
            <p:cNvGrpSpPr/>
            <p:nvPr/>
          </p:nvGrpSpPr>
          <p:grpSpPr>
            <a:xfrm>
              <a:off x="0" y="1"/>
              <a:ext cx="13140715" cy="6858000"/>
              <a:chOff x="0" y="1"/>
              <a:chExt cx="13140715" cy="68580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F57304-53CD-4F46-AA81-9C22095EDD64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3140715 w 13140715"/>
                  <a:gd name="connsiteY2" fmla="*/ 0 h 6858000"/>
                  <a:gd name="connsiteX3" fmla="*/ 13140715 w 13140715"/>
                  <a:gd name="connsiteY3" fmla="*/ 1713600 h 6858000"/>
                  <a:gd name="connsiteX4" fmla="*/ 12192000 w 13140715"/>
                  <a:gd name="connsiteY4" fmla="*/ 1713600 h 6858000"/>
                  <a:gd name="connsiteX5" fmla="*/ 12192000 w 13140715"/>
                  <a:gd name="connsiteY5" fmla="*/ 6858000 h 6858000"/>
                  <a:gd name="connsiteX6" fmla="*/ 0 w 13140715"/>
                  <a:gd name="connsiteY6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3140715" y="0"/>
                    </a:lnTo>
                    <a:lnTo>
                      <a:pt x="13140715" y="1713600"/>
                    </a:lnTo>
                    <a:lnTo>
                      <a:pt x="12192000" y="1713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339DEB-55AE-4960-9FD0-1A6FE5ED7523}"/>
                  </a:ext>
                </a:extLst>
              </p:cNvPr>
              <p:cNvSpPr/>
              <p:nvPr/>
            </p:nvSpPr>
            <p:spPr>
              <a:xfrm>
                <a:off x="1298157" y="363600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 cap="rnd">
                <a:solidFill>
                  <a:schemeClr val="accent1">
                    <a:shade val="5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0" name="Grafik 19" descr="Bambus mit einfarbiger Füllung">
              <a:extLst>
                <a:ext uri="{FF2B5EF4-FFF2-40B4-BE49-F238E27FC236}">
                  <a16:creationId xmlns:a16="http://schemas.microsoft.com/office/drawing/2014/main" id="{7D999156-C2CD-4B10-9CB9-11E9510D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23940" y="412887"/>
              <a:ext cx="850520" cy="85052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52640F6-5607-4442-82E4-3F2F43D8FCD4}"/>
              </a:ext>
            </a:extLst>
          </p:cNvPr>
          <p:cNvGrpSpPr/>
          <p:nvPr/>
        </p:nvGrpSpPr>
        <p:grpSpPr>
          <a:xfrm>
            <a:off x="-12214237" y="4448"/>
            <a:ext cx="13164756" cy="6858000"/>
            <a:chOff x="-1" y="0"/>
            <a:chExt cx="13164756" cy="6858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097626-232C-4327-8112-41AACE38550C}"/>
                </a:ext>
              </a:extLst>
            </p:cNvPr>
            <p:cNvGrpSpPr/>
            <p:nvPr/>
          </p:nvGrpSpPr>
          <p:grpSpPr>
            <a:xfrm>
              <a:off x="-1" y="0"/>
              <a:ext cx="13140715" cy="6858000"/>
              <a:chOff x="-248281" y="351096"/>
              <a:chExt cx="13140715" cy="685800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5B65C1B-C1F6-4859-AB14-460219C7AF8D}"/>
                  </a:ext>
                </a:extLst>
              </p:cNvPr>
              <p:cNvSpPr/>
              <p:nvPr/>
            </p:nvSpPr>
            <p:spPr>
              <a:xfrm>
                <a:off x="-248281" y="351096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3429000 h 6858000"/>
                  <a:gd name="connsiteX3" fmla="*/ 13140715 w 13140715"/>
                  <a:gd name="connsiteY3" fmla="*/ 3429000 h 6858000"/>
                  <a:gd name="connsiteX4" fmla="*/ 13140715 w 13140715"/>
                  <a:gd name="connsiteY4" fmla="*/ 5142600 h 6858000"/>
                  <a:gd name="connsiteX5" fmla="*/ 12192000 w 13140715"/>
                  <a:gd name="connsiteY5" fmla="*/ 51426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429000"/>
                    </a:lnTo>
                    <a:lnTo>
                      <a:pt x="13140715" y="3429000"/>
                    </a:lnTo>
                    <a:lnTo>
                      <a:pt x="13140715" y="5142600"/>
                    </a:lnTo>
                    <a:lnTo>
                      <a:pt x="12192000" y="5142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3D8E59-CADC-4A47-8863-F3F31178A74D}"/>
                  </a:ext>
                </a:extLst>
              </p:cNvPr>
              <p:cNvSpPr/>
              <p:nvPr/>
            </p:nvSpPr>
            <p:spPr>
              <a:xfrm>
                <a:off x="1049876" y="714696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1" name="Grafik 20" descr="Kommentar Feuer mit einfarbiger Füllung">
              <a:extLst>
                <a:ext uri="{FF2B5EF4-FFF2-40B4-BE49-F238E27FC236}">
                  <a16:creationId xmlns:a16="http://schemas.microsoft.com/office/drawing/2014/main" id="{75DF262D-6B6D-47F0-9C21-614C46AC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33645" y="3757961"/>
              <a:ext cx="1031110" cy="103111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721C1E4-CAB1-4831-B192-6AD58C8EA1DB}"/>
              </a:ext>
            </a:extLst>
          </p:cNvPr>
          <p:cNvGrpSpPr/>
          <p:nvPr/>
        </p:nvGrpSpPr>
        <p:grpSpPr>
          <a:xfrm>
            <a:off x="-12214237" y="4446"/>
            <a:ext cx="13140715" cy="6858001"/>
            <a:chOff x="-1" y="-2"/>
            <a:chExt cx="1314071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D0EF34-64CF-4FE1-AA4B-2D18EED918F4}"/>
                </a:ext>
              </a:extLst>
            </p:cNvPr>
            <p:cNvGrpSpPr/>
            <p:nvPr/>
          </p:nvGrpSpPr>
          <p:grpSpPr>
            <a:xfrm>
              <a:off x="-1" y="-2"/>
              <a:ext cx="13140715" cy="6858001"/>
              <a:chOff x="-575286" y="308835"/>
              <a:chExt cx="13140715" cy="685800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3A59026-03F5-467E-93CB-71CDF21B1CCE}"/>
                  </a:ext>
                </a:extLst>
              </p:cNvPr>
              <p:cNvSpPr/>
              <p:nvPr/>
            </p:nvSpPr>
            <p:spPr>
              <a:xfrm>
                <a:off x="-575286" y="308835"/>
                <a:ext cx="13140715" cy="6858001"/>
              </a:xfrm>
              <a:custGeom>
                <a:avLst/>
                <a:gdLst>
                  <a:gd name="connsiteX0" fmla="*/ 0 w 13140715"/>
                  <a:gd name="connsiteY0" fmla="*/ 0 h 6858001"/>
                  <a:gd name="connsiteX1" fmla="*/ 12192000 w 13140715"/>
                  <a:gd name="connsiteY1" fmla="*/ 0 h 6858001"/>
                  <a:gd name="connsiteX2" fmla="*/ 12192000 w 13140715"/>
                  <a:gd name="connsiteY2" fmla="*/ 5144401 h 6858001"/>
                  <a:gd name="connsiteX3" fmla="*/ 13140715 w 13140715"/>
                  <a:gd name="connsiteY3" fmla="*/ 5144401 h 6858001"/>
                  <a:gd name="connsiteX4" fmla="*/ 13140715 w 13140715"/>
                  <a:gd name="connsiteY4" fmla="*/ 6858001 h 6858001"/>
                  <a:gd name="connsiteX5" fmla="*/ 12192000 w 13140715"/>
                  <a:gd name="connsiteY5" fmla="*/ 6858001 h 6858001"/>
                  <a:gd name="connsiteX6" fmla="*/ 12192000 w 13140715"/>
                  <a:gd name="connsiteY6" fmla="*/ 6858000 h 6858001"/>
                  <a:gd name="connsiteX7" fmla="*/ 0 w 13140715"/>
                  <a:gd name="connsiteY7" fmla="*/ 6858000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1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5144401"/>
                    </a:lnTo>
                    <a:lnTo>
                      <a:pt x="13140715" y="5144401"/>
                    </a:lnTo>
                    <a:lnTo>
                      <a:pt x="13140715" y="6858001"/>
                    </a:lnTo>
                    <a:lnTo>
                      <a:pt x="12192000" y="6858001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6"/>
              </a:solidFill>
              <a:ln w="19050" cap="rnd">
                <a:solidFill>
                  <a:schemeClr val="accent6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E75168-E3CA-4A46-923B-4E0D5F82F43D}"/>
                  </a:ext>
                </a:extLst>
              </p:cNvPr>
              <p:cNvSpPr/>
              <p:nvPr/>
            </p:nvSpPr>
            <p:spPr>
              <a:xfrm>
                <a:off x="722871" y="672434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Ordner mit einfarbiger Füllung">
              <a:extLst>
                <a:ext uri="{FF2B5EF4-FFF2-40B4-BE49-F238E27FC236}">
                  <a16:creationId xmlns:a16="http://schemas.microsoft.com/office/drawing/2014/main" id="{0B1FAF4A-5B76-4D6B-B95F-7A00BCA28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92000" y="5544752"/>
              <a:ext cx="914400" cy="914400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88720" y="6563995"/>
            <a:ext cx="2392680" cy="228600"/>
          </a:xfrm>
        </p:spPr>
        <p:txBody>
          <a:bodyPr/>
          <a:lstStyle/>
          <a:p>
            <a:pPr rtl="0"/>
            <a:fld id="{C904900C-B1E8-4611-943C-F71B2CD5C61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3995"/>
            <a:ext cx="4114800" cy="228600"/>
          </a:xfrm>
        </p:spPr>
        <p:txBody>
          <a:bodyPr/>
          <a:lstStyle/>
          <a:p>
            <a:pPr rtl="0"/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0B1DBEA6-DCEE-4BC9-BA6D-1B829FB6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860" y="457200"/>
            <a:ext cx="3464165" cy="1600200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graphicFrame>
        <p:nvGraphicFramePr>
          <p:cNvPr id="27" name="Content Placeholder 3">
            <a:extLst>
              <a:ext uri="{FF2B5EF4-FFF2-40B4-BE49-F238E27FC236}">
                <a16:creationId xmlns:a16="http://schemas.microsoft.com/office/drawing/2014/main" id="{8F6DEB40-D05D-4262-AA82-2FDD7DF42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225214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28" name="Rectangle 5">
            <a:extLst>
              <a:ext uri="{FF2B5EF4-FFF2-40B4-BE49-F238E27FC236}">
                <a16:creationId xmlns:a16="http://schemas.microsoft.com/office/drawing/2014/main" id="{EF916348-1780-497E-AF5E-C6584212B891}"/>
              </a:ext>
            </a:extLst>
          </p:cNvPr>
          <p:cNvSpPr/>
          <p:nvPr/>
        </p:nvSpPr>
        <p:spPr>
          <a:xfrm>
            <a:off x="6329678" y="1307048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A1D98C9A-2889-47E4-AB3C-36F4C5E66EB9}"/>
              </a:ext>
            </a:extLst>
          </p:cNvPr>
          <p:cNvSpPr/>
          <p:nvPr/>
        </p:nvSpPr>
        <p:spPr>
          <a:xfrm>
            <a:off x="6323887" y="2447360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4EA704BC-8503-43B9-AFCE-751F66E307C3}"/>
              </a:ext>
            </a:extLst>
          </p:cNvPr>
          <p:cNvSpPr/>
          <p:nvPr/>
        </p:nvSpPr>
        <p:spPr>
          <a:xfrm>
            <a:off x="6329679" y="3665418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0D142C76-5AF3-4DBC-AB40-BEF275C2F5B1}"/>
              </a:ext>
            </a:extLst>
          </p:cNvPr>
          <p:cNvSpPr/>
          <p:nvPr/>
        </p:nvSpPr>
        <p:spPr>
          <a:xfrm>
            <a:off x="6329679" y="4793519"/>
            <a:ext cx="171300" cy="27632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9241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graphicEl>
                                              <a:dgm id="{F57BD5CE-065D-41C5-8A3E-2B6CC424F0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graphicEl>
                                              <a:dgm id="{F57BD5CE-065D-41C5-8A3E-2B6CC424F0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graphicEl>
                                              <a:dgm id="{80EFB892-5DC9-412A-8024-5FCC730724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>
                                            <p:graphicEl>
                                              <a:dgm id="{80EFB892-5DC9-412A-8024-5FCC730724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graphicEl>
                                              <a:dgm id="{6E1DBE4A-DDAC-4C3E-8669-D66E787FB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>
                                            <p:graphicEl>
                                              <a:dgm id="{6E1DBE4A-DDAC-4C3E-8669-D66E787FB5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graphicEl>
                                              <a:dgm id="{74FCF22E-C255-4E39-8701-2643373BF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>
                                            <p:graphicEl>
                                              <a:dgm id="{74FCF22E-C255-4E39-8701-2643373BF1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graphicEl>
                                              <a:dgm id="{EAA48D7E-A5E6-4B75-8B94-A4C6AF708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>
                                            <p:graphicEl>
                                              <a:dgm id="{EAA48D7E-A5E6-4B75-8B94-A4C6AF7089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graphicEl>
                                              <a:dgm id="{A04A16E0-49FE-44E1-A4D5-4C283BC2E7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>
                                            <p:graphicEl>
                                              <a:dgm id="{A04A16E0-49FE-44E1-A4D5-4C283BC2E7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graphicEl>
                                              <a:dgm id="{0AC27843-A1C6-4E22-8729-89FB36A02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>
                                            <p:graphicEl>
                                              <a:dgm id="{0AC27843-A1C6-4E22-8729-89FB36A02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graphicEl>
                                              <a:dgm id="{7D261085-5C77-417B-83B1-0174F5544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graphicEl>
                                              <a:dgm id="{7D261085-5C77-417B-83B1-0174F5544A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Graphic spid="27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ECE2F31-0E23-400B-A002-BC098780472E}"/>
              </a:ext>
            </a:extLst>
          </p:cNvPr>
          <p:cNvGrpSpPr/>
          <p:nvPr/>
        </p:nvGrpSpPr>
        <p:grpSpPr>
          <a:xfrm>
            <a:off x="0" y="-4448"/>
            <a:ext cx="13140715" cy="6858000"/>
            <a:chOff x="0" y="1"/>
            <a:chExt cx="13140715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201CE-F6C6-4664-981B-90FB3A163351}"/>
                </a:ext>
              </a:extLst>
            </p:cNvPr>
            <p:cNvGrpSpPr/>
            <p:nvPr/>
          </p:nvGrpSpPr>
          <p:grpSpPr>
            <a:xfrm>
              <a:off x="0" y="1"/>
              <a:ext cx="13140715" cy="6858000"/>
              <a:chOff x="0" y="1"/>
              <a:chExt cx="13140715" cy="68580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F57304-53CD-4F46-AA81-9C22095EDD64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3140715 w 13140715"/>
                  <a:gd name="connsiteY2" fmla="*/ 0 h 6858000"/>
                  <a:gd name="connsiteX3" fmla="*/ 13140715 w 13140715"/>
                  <a:gd name="connsiteY3" fmla="*/ 1713600 h 6858000"/>
                  <a:gd name="connsiteX4" fmla="*/ 12192000 w 13140715"/>
                  <a:gd name="connsiteY4" fmla="*/ 1713600 h 6858000"/>
                  <a:gd name="connsiteX5" fmla="*/ 12192000 w 13140715"/>
                  <a:gd name="connsiteY5" fmla="*/ 6858000 h 6858000"/>
                  <a:gd name="connsiteX6" fmla="*/ 0 w 13140715"/>
                  <a:gd name="connsiteY6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3140715" y="0"/>
                    </a:lnTo>
                    <a:lnTo>
                      <a:pt x="13140715" y="1713600"/>
                    </a:lnTo>
                    <a:lnTo>
                      <a:pt x="12192000" y="1713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339DEB-55AE-4960-9FD0-1A6FE5ED7523}"/>
                  </a:ext>
                </a:extLst>
              </p:cNvPr>
              <p:cNvSpPr/>
              <p:nvPr/>
            </p:nvSpPr>
            <p:spPr>
              <a:xfrm>
                <a:off x="1298157" y="363600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0" name="Grafik 19" descr="Bambus mit einfarbiger Füllung">
              <a:extLst>
                <a:ext uri="{FF2B5EF4-FFF2-40B4-BE49-F238E27FC236}">
                  <a16:creationId xmlns:a16="http://schemas.microsoft.com/office/drawing/2014/main" id="{7D999156-C2CD-4B10-9CB9-11E9510D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23940" y="412887"/>
              <a:ext cx="850520" cy="850520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923267E-DB40-4D2D-BD52-83775668EC7B}"/>
              </a:ext>
            </a:extLst>
          </p:cNvPr>
          <p:cNvGrpSpPr/>
          <p:nvPr/>
        </p:nvGrpSpPr>
        <p:grpSpPr>
          <a:xfrm>
            <a:off x="-12214238" y="4445"/>
            <a:ext cx="13140715" cy="6858000"/>
            <a:chOff x="-2" y="-3"/>
            <a:chExt cx="1314071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2B826-D0A4-4835-A701-CB4919AE6047}"/>
                </a:ext>
              </a:extLst>
            </p:cNvPr>
            <p:cNvGrpSpPr/>
            <p:nvPr/>
          </p:nvGrpSpPr>
          <p:grpSpPr>
            <a:xfrm>
              <a:off x="-2" y="-3"/>
              <a:ext cx="13140715" cy="6858000"/>
              <a:chOff x="0" y="1"/>
              <a:chExt cx="13140715" cy="6858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AA2CF1B-FA35-494C-BE76-BE6D029A0EC3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1715400 h 6858000"/>
                  <a:gd name="connsiteX3" fmla="*/ 13140715 w 13140715"/>
                  <a:gd name="connsiteY3" fmla="*/ 1715400 h 6858000"/>
                  <a:gd name="connsiteX4" fmla="*/ 13140715 w 13140715"/>
                  <a:gd name="connsiteY4" fmla="*/ 3429000 h 6858000"/>
                  <a:gd name="connsiteX5" fmla="*/ 12192000 w 13140715"/>
                  <a:gd name="connsiteY5" fmla="*/ 34290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15400"/>
                    </a:lnTo>
                    <a:lnTo>
                      <a:pt x="13140715" y="1715400"/>
                    </a:lnTo>
                    <a:lnTo>
                      <a:pt x="13140715" y="3429000"/>
                    </a:lnTo>
                    <a:lnTo>
                      <a:pt x="12192000" y="34290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056B7F-8A20-4B8D-9331-17029663E904}"/>
                  </a:ext>
                </a:extLst>
              </p:cNvPr>
              <p:cNvSpPr/>
              <p:nvPr/>
            </p:nvSpPr>
            <p:spPr>
              <a:xfrm>
                <a:off x="1298157" y="363599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7" name="Grafik 6" descr="Zahnräder">
              <a:extLst>
                <a:ext uri="{FF2B5EF4-FFF2-40B4-BE49-F238E27FC236}">
                  <a16:creationId xmlns:a16="http://schemas.microsoft.com/office/drawing/2014/main" id="{AA67391B-3579-482C-9F0F-EB00BD58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208788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52640F6-5607-4442-82E4-3F2F43D8FCD4}"/>
              </a:ext>
            </a:extLst>
          </p:cNvPr>
          <p:cNvGrpSpPr/>
          <p:nvPr/>
        </p:nvGrpSpPr>
        <p:grpSpPr>
          <a:xfrm>
            <a:off x="-12214237" y="4448"/>
            <a:ext cx="13164756" cy="6858000"/>
            <a:chOff x="-1" y="0"/>
            <a:chExt cx="13164756" cy="6858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097626-232C-4327-8112-41AACE38550C}"/>
                </a:ext>
              </a:extLst>
            </p:cNvPr>
            <p:cNvGrpSpPr/>
            <p:nvPr/>
          </p:nvGrpSpPr>
          <p:grpSpPr>
            <a:xfrm>
              <a:off x="-1" y="0"/>
              <a:ext cx="13140715" cy="6858000"/>
              <a:chOff x="-248281" y="351096"/>
              <a:chExt cx="13140715" cy="685800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5B65C1B-C1F6-4859-AB14-460219C7AF8D}"/>
                  </a:ext>
                </a:extLst>
              </p:cNvPr>
              <p:cNvSpPr/>
              <p:nvPr/>
            </p:nvSpPr>
            <p:spPr>
              <a:xfrm>
                <a:off x="-248281" y="351096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3429000 h 6858000"/>
                  <a:gd name="connsiteX3" fmla="*/ 13140715 w 13140715"/>
                  <a:gd name="connsiteY3" fmla="*/ 3429000 h 6858000"/>
                  <a:gd name="connsiteX4" fmla="*/ 13140715 w 13140715"/>
                  <a:gd name="connsiteY4" fmla="*/ 5142600 h 6858000"/>
                  <a:gd name="connsiteX5" fmla="*/ 12192000 w 13140715"/>
                  <a:gd name="connsiteY5" fmla="*/ 51426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429000"/>
                    </a:lnTo>
                    <a:lnTo>
                      <a:pt x="13140715" y="3429000"/>
                    </a:lnTo>
                    <a:lnTo>
                      <a:pt x="13140715" y="5142600"/>
                    </a:lnTo>
                    <a:lnTo>
                      <a:pt x="12192000" y="5142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3D8E59-CADC-4A47-8863-F3F31178A74D}"/>
                  </a:ext>
                </a:extLst>
              </p:cNvPr>
              <p:cNvSpPr/>
              <p:nvPr/>
            </p:nvSpPr>
            <p:spPr>
              <a:xfrm>
                <a:off x="1049876" y="714696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1" name="Grafik 20" descr="Kommentar Feuer mit einfarbiger Füllung">
              <a:extLst>
                <a:ext uri="{FF2B5EF4-FFF2-40B4-BE49-F238E27FC236}">
                  <a16:creationId xmlns:a16="http://schemas.microsoft.com/office/drawing/2014/main" id="{75DF262D-6B6D-47F0-9C21-614C46AC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33645" y="3757961"/>
              <a:ext cx="1031110" cy="103111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721C1E4-CAB1-4831-B192-6AD58C8EA1DB}"/>
              </a:ext>
            </a:extLst>
          </p:cNvPr>
          <p:cNvGrpSpPr/>
          <p:nvPr/>
        </p:nvGrpSpPr>
        <p:grpSpPr>
          <a:xfrm>
            <a:off x="-12214237" y="4446"/>
            <a:ext cx="13140715" cy="6858001"/>
            <a:chOff x="-1" y="-2"/>
            <a:chExt cx="1314071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D0EF34-64CF-4FE1-AA4B-2D18EED918F4}"/>
                </a:ext>
              </a:extLst>
            </p:cNvPr>
            <p:cNvGrpSpPr/>
            <p:nvPr/>
          </p:nvGrpSpPr>
          <p:grpSpPr>
            <a:xfrm>
              <a:off x="-1" y="-2"/>
              <a:ext cx="13140715" cy="6858001"/>
              <a:chOff x="-575286" y="308835"/>
              <a:chExt cx="13140715" cy="685800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3A59026-03F5-467E-93CB-71CDF21B1CCE}"/>
                  </a:ext>
                </a:extLst>
              </p:cNvPr>
              <p:cNvSpPr/>
              <p:nvPr/>
            </p:nvSpPr>
            <p:spPr>
              <a:xfrm>
                <a:off x="-575286" y="308835"/>
                <a:ext cx="13140715" cy="6858001"/>
              </a:xfrm>
              <a:custGeom>
                <a:avLst/>
                <a:gdLst>
                  <a:gd name="connsiteX0" fmla="*/ 0 w 13140715"/>
                  <a:gd name="connsiteY0" fmla="*/ 0 h 6858001"/>
                  <a:gd name="connsiteX1" fmla="*/ 12192000 w 13140715"/>
                  <a:gd name="connsiteY1" fmla="*/ 0 h 6858001"/>
                  <a:gd name="connsiteX2" fmla="*/ 12192000 w 13140715"/>
                  <a:gd name="connsiteY2" fmla="*/ 5144401 h 6858001"/>
                  <a:gd name="connsiteX3" fmla="*/ 13140715 w 13140715"/>
                  <a:gd name="connsiteY3" fmla="*/ 5144401 h 6858001"/>
                  <a:gd name="connsiteX4" fmla="*/ 13140715 w 13140715"/>
                  <a:gd name="connsiteY4" fmla="*/ 6858001 h 6858001"/>
                  <a:gd name="connsiteX5" fmla="*/ 12192000 w 13140715"/>
                  <a:gd name="connsiteY5" fmla="*/ 6858001 h 6858001"/>
                  <a:gd name="connsiteX6" fmla="*/ 12192000 w 13140715"/>
                  <a:gd name="connsiteY6" fmla="*/ 6858000 h 6858001"/>
                  <a:gd name="connsiteX7" fmla="*/ 0 w 13140715"/>
                  <a:gd name="connsiteY7" fmla="*/ 6858000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1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5144401"/>
                    </a:lnTo>
                    <a:lnTo>
                      <a:pt x="13140715" y="5144401"/>
                    </a:lnTo>
                    <a:lnTo>
                      <a:pt x="13140715" y="6858001"/>
                    </a:lnTo>
                    <a:lnTo>
                      <a:pt x="12192000" y="6858001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6"/>
              </a:solidFill>
              <a:ln w="19050" cap="rnd">
                <a:solidFill>
                  <a:schemeClr val="accent6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E75168-E3CA-4A46-923B-4E0D5F82F43D}"/>
                  </a:ext>
                </a:extLst>
              </p:cNvPr>
              <p:cNvSpPr/>
              <p:nvPr/>
            </p:nvSpPr>
            <p:spPr>
              <a:xfrm>
                <a:off x="722871" y="672434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Ordner mit einfarbiger Füllung">
              <a:extLst>
                <a:ext uri="{FF2B5EF4-FFF2-40B4-BE49-F238E27FC236}">
                  <a16:creationId xmlns:a16="http://schemas.microsoft.com/office/drawing/2014/main" id="{0B1FAF4A-5B76-4D6B-B95F-7A00BCA28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92000" y="5544752"/>
              <a:ext cx="914400" cy="914400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8156" y="6563995"/>
            <a:ext cx="2283243" cy="228600"/>
          </a:xfrm>
        </p:spPr>
        <p:txBody>
          <a:bodyPr/>
          <a:lstStyle/>
          <a:p>
            <a:pPr rtl="0"/>
            <a:fld id="{C904900C-B1E8-4611-943C-F71B2CD5C61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3995"/>
            <a:ext cx="4114800" cy="228600"/>
          </a:xfrm>
        </p:spPr>
        <p:txBody>
          <a:bodyPr/>
          <a:lstStyle/>
          <a:p>
            <a:pPr rtl="0"/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sp>
        <p:nvSpPr>
          <p:cNvPr id="29" name="Titel 1">
            <a:extLst>
              <a:ext uri="{FF2B5EF4-FFF2-40B4-BE49-F238E27FC236}">
                <a16:creationId xmlns:a16="http://schemas.microsoft.com/office/drawing/2014/main" id="{17D3543D-6407-4879-99FD-871E2A23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8043"/>
            <a:ext cx="10145042" cy="1325563"/>
          </a:xfrm>
        </p:spPr>
        <p:txBody>
          <a:bodyPr/>
          <a:lstStyle/>
          <a:p>
            <a:r>
              <a:rPr lang="de-DE" dirty="0"/>
              <a:t>Ursprünge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220352CB-39FC-4791-9919-BF6520B2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28543"/>
            <a:ext cx="10145042" cy="4351338"/>
          </a:xfrm>
        </p:spPr>
        <p:txBody>
          <a:bodyPr>
            <a:normAutofit/>
          </a:bodyPr>
          <a:lstStyle/>
          <a:p>
            <a:r>
              <a:rPr lang="de-DE" sz="2800" dirty="0"/>
              <a:t>Kanban, jap. für: Signalkarte</a:t>
            </a:r>
          </a:p>
          <a:p>
            <a:r>
              <a:rPr lang="de-DE" sz="2800" dirty="0"/>
              <a:t>1947 für Toyota entwickelt</a:t>
            </a:r>
          </a:p>
          <a:p>
            <a:r>
              <a:rPr lang="de-DE" sz="2800" dirty="0"/>
              <a:t>Prinzip der Just-in-Time Produktion</a:t>
            </a:r>
          </a:p>
          <a:p>
            <a:pPr lvl="1"/>
            <a:r>
              <a:rPr lang="de-DE" sz="2400" dirty="0"/>
              <a:t>Orientiert an Kundennachfrage -&gt; Pull-System</a:t>
            </a:r>
          </a:p>
          <a:p>
            <a:r>
              <a:rPr lang="de-DE" sz="2800" dirty="0"/>
              <a:t>Ermöglicht Reduzierung der benötigten Lagerbestände </a:t>
            </a:r>
          </a:p>
          <a:p>
            <a:r>
              <a:rPr lang="de-DE" sz="2800" dirty="0"/>
              <a:t>Erhöht Lieferfähigkeit</a:t>
            </a:r>
          </a:p>
        </p:txBody>
      </p:sp>
      <p:pic>
        <p:nvPicPr>
          <p:cNvPr id="31" name="Picture 2" descr="A person's hand is shown holding a transparent plastic bag of bolts (machine screws) together with a yellow card. The card has printed on it: &quot;ITEM #0014 BIN: A14 NSN:5306-00-151-1419 P/N: NOMEN: BOLT QTY LEFT: 50&quot;.">
            <a:extLst>
              <a:ext uri="{FF2B5EF4-FFF2-40B4-BE49-F238E27FC236}">
                <a16:creationId xmlns:a16="http://schemas.microsoft.com/office/drawing/2014/main" id="{DC519678-BEF9-4A2E-BC9E-CC46CFEE7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391" y="678119"/>
            <a:ext cx="3847185" cy="255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224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ECE2F31-0E23-400B-A002-BC098780472E}"/>
              </a:ext>
            </a:extLst>
          </p:cNvPr>
          <p:cNvGrpSpPr/>
          <p:nvPr/>
        </p:nvGrpSpPr>
        <p:grpSpPr>
          <a:xfrm>
            <a:off x="0" y="-4448"/>
            <a:ext cx="13140715" cy="6858000"/>
            <a:chOff x="0" y="1"/>
            <a:chExt cx="13140715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201CE-F6C6-4664-981B-90FB3A163351}"/>
                </a:ext>
              </a:extLst>
            </p:cNvPr>
            <p:cNvGrpSpPr/>
            <p:nvPr/>
          </p:nvGrpSpPr>
          <p:grpSpPr>
            <a:xfrm>
              <a:off x="0" y="1"/>
              <a:ext cx="13140715" cy="6858000"/>
              <a:chOff x="0" y="1"/>
              <a:chExt cx="13140715" cy="68580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F57304-53CD-4F46-AA81-9C22095EDD64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3140715 w 13140715"/>
                  <a:gd name="connsiteY2" fmla="*/ 0 h 6858000"/>
                  <a:gd name="connsiteX3" fmla="*/ 13140715 w 13140715"/>
                  <a:gd name="connsiteY3" fmla="*/ 1713600 h 6858000"/>
                  <a:gd name="connsiteX4" fmla="*/ 12192000 w 13140715"/>
                  <a:gd name="connsiteY4" fmla="*/ 1713600 h 6858000"/>
                  <a:gd name="connsiteX5" fmla="*/ 12192000 w 13140715"/>
                  <a:gd name="connsiteY5" fmla="*/ 6858000 h 6858000"/>
                  <a:gd name="connsiteX6" fmla="*/ 0 w 13140715"/>
                  <a:gd name="connsiteY6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3140715" y="0"/>
                    </a:lnTo>
                    <a:lnTo>
                      <a:pt x="13140715" y="1713600"/>
                    </a:lnTo>
                    <a:lnTo>
                      <a:pt x="12192000" y="1713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339DEB-55AE-4960-9FD0-1A6FE5ED7523}"/>
                  </a:ext>
                </a:extLst>
              </p:cNvPr>
              <p:cNvSpPr/>
              <p:nvPr/>
            </p:nvSpPr>
            <p:spPr>
              <a:xfrm>
                <a:off x="1298157" y="363600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0" name="Grafik 19" descr="Bambus mit einfarbiger Füllung">
              <a:extLst>
                <a:ext uri="{FF2B5EF4-FFF2-40B4-BE49-F238E27FC236}">
                  <a16:creationId xmlns:a16="http://schemas.microsoft.com/office/drawing/2014/main" id="{7D999156-C2CD-4B10-9CB9-11E9510D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23940" y="412887"/>
              <a:ext cx="850520" cy="850520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923267E-DB40-4D2D-BD52-83775668EC7B}"/>
              </a:ext>
            </a:extLst>
          </p:cNvPr>
          <p:cNvGrpSpPr/>
          <p:nvPr/>
        </p:nvGrpSpPr>
        <p:grpSpPr>
          <a:xfrm>
            <a:off x="0" y="-13344"/>
            <a:ext cx="13140715" cy="6858000"/>
            <a:chOff x="-2" y="-3"/>
            <a:chExt cx="1314071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2B826-D0A4-4835-A701-CB4919AE6047}"/>
                </a:ext>
              </a:extLst>
            </p:cNvPr>
            <p:cNvGrpSpPr/>
            <p:nvPr/>
          </p:nvGrpSpPr>
          <p:grpSpPr>
            <a:xfrm>
              <a:off x="-2" y="-3"/>
              <a:ext cx="13140715" cy="6858000"/>
              <a:chOff x="0" y="1"/>
              <a:chExt cx="13140715" cy="6858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AA2CF1B-FA35-494C-BE76-BE6D029A0EC3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1715400 h 6858000"/>
                  <a:gd name="connsiteX3" fmla="*/ 13140715 w 13140715"/>
                  <a:gd name="connsiteY3" fmla="*/ 1715400 h 6858000"/>
                  <a:gd name="connsiteX4" fmla="*/ 13140715 w 13140715"/>
                  <a:gd name="connsiteY4" fmla="*/ 3429000 h 6858000"/>
                  <a:gd name="connsiteX5" fmla="*/ 12192000 w 13140715"/>
                  <a:gd name="connsiteY5" fmla="*/ 34290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15400"/>
                    </a:lnTo>
                    <a:lnTo>
                      <a:pt x="13140715" y="1715400"/>
                    </a:lnTo>
                    <a:lnTo>
                      <a:pt x="13140715" y="3429000"/>
                    </a:lnTo>
                    <a:lnTo>
                      <a:pt x="12192000" y="34290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056B7F-8A20-4B8D-9331-17029663E904}"/>
                  </a:ext>
                </a:extLst>
              </p:cNvPr>
              <p:cNvSpPr/>
              <p:nvPr/>
            </p:nvSpPr>
            <p:spPr>
              <a:xfrm>
                <a:off x="1298157" y="363599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7" name="Grafik 6" descr="Zahnräder">
              <a:extLst>
                <a:ext uri="{FF2B5EF4-FFF2-40B4-BE49-F238E27FC236}">
                  <a16:creationId xmlns:a16="http://schemas.microsoft.com/office/drawing/2014/main" id="{AA67391B-3579-482C-9F0F-EB00BD58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208788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52640F6-5607-4442-82E4-3F2F43D8FCD4}"/>
              </a:ext>
            </a:extLst>
          </p:cNvPr>
          <p:cNvGrpSpPr/>
          <p:nvPr/>
        </p:nvGrpSpPr>
        <p:grpSpPr>
          <a:xfrm>
            <a:off x="-12214237" y="4448"/>
            <a:ext cx="13164756" cy="6858000"/>
            <a:chOff x="-1" y="0"/>
            <a:chExt cx="13164756" cy="6858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097626-232C-4327-8112-41AACE38550C}"/>
                </a:ext>
              </a:extLst>
            </p:cNvPr>
            <p:cNvGrpSpPr/>
            <p:nvPr/>
          </p:nvGrpSpPr>
          <p:grpSpPr>
            <a:xfrm>
              <a:off x="-1" y="0"/>
              <a:ext cx="13140715" cy="6858000"/>
              <a:chOff x="-248281" y="351096"/>
              <a:chExt cx="13140715" cy="685800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5B65C1B-C1F6-4859-AB14-460219C7AF8D}"/>
                  </a:ext>
                </a:extLst>
              </p:cNvPr>
              <p:cNvSpPr/>
              <p:nvPr/>
            </p:nvSpPr>
            <p:spPr>
              <a:xfrm>
                <a:off x="-248281" y="351096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3429000 h 6858000"/>
                  <a:gd name="connsiteX3" fmla="*/ 13140715 w 13140715"/>
                  <a:gd name="connsiteY3" fmla="*/ 3429000 h 6858000"/>
                  <a:gd name="connsiteX4" fmla="*/ 13140715 w 13140715"/>
                  <a:gd name="connsiteY4" fmla="*/ 5142600 h 6858000"/>
                  <a:gd name="connsiteX5" fmla="*/ 12192000 w 13140715"/>
                  <a:gd name="connsiteY5" fmla="*/ 51426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429000"/>
                    </a:lnTo>
                    <a:lnTo>
                      <a:pt x="13140715" y="3429000"/>
                    </a:lnTo>
                    <a:lnTo>
                      <a:pt x="13140715" y="5142600"/>
                    </a:lnTo>
                    <a:lnTo>
                      <a:pt x="12192000" y="5142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3D8E59-CADC-4A47-8863-F3F31178A74D}"/>
                  </a:ext>
                </a:extLst>
              </p:cNvPr>
              <p:cNvSpPr/>
              <p:nvPr/>
            </p:nvSpPr>
            <p:spPr>
              <a:xfrm>
                <a:off x="1049876" y="714696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1" name="Grafik 20" descr="Kommentar Feuer mit einfarbiger Füllung">
              <a:extLst>
                <a:ext uri="{FF2B5EF4-FFF2-40B4-BE49-F238E27FC236}">
                  <a16:creationId xmlns:a16="http://schemas.microsoft.com/office/drawing/2014/main" id="{75DF262D-6B6D-47F0-9C21-614C46AC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33645" y="3757961"/>
              <a:ext cx="1031110" cy="103111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721C1E4-CAB1-4831-B192-6AD58C8EA1DB}"/>
              </a:ext>
            </a:extLst>
          </p:cNvPr>
          <p:cNvGrpSpPr/>
          <p:nvPr/>
        </p:nvGrpSpPr>
        <p:grpSpPr>
          <a:xfrm>
            <a:off x="-12214237" y="4446"/>
            <a:ext cx="13140715" cy="6858001"/>
            <a:chOff x="-1" y="-2"/>
            <a:chExt cx="1314071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D0EF34-64CF-4FE1-AA4B-2D18EED918F4}"/>
                </a:ext>
              </a:extLst>
            </p:cNvPr>
            <p:cNvGrpSpPr/>
            <p:nvPr/>
          </p:nvGrpSpPr>
          <p:grpSpPr>
            <a:xfrm>
              <a:off x="-1" y="-2"/>
              <a:ext cx="13140715" cy="6858001"/>
              <a:chOff x="-575286" y="308835"/>
              <a:chExt cx="13140715" cy="685800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3A59026-03F5-467E-93CB-71CDF21B1CCE}"/>
                  </a:ext>
                </a:extLst>
              </p:cNvPr>
              <p:cNvSpPr/>
              <p:nvPr/>
            </p:nvSpPr>
            <p:spPr>
              <a:xfrm>
                <a:off x="-575286" y="308835"/>
                <a:ext cx="13140715" cy="6858001"/>
              </a:xfrm>
              <a:custGeom>
                <a:avLst/>
                <a:gdLst>
                  <a:gd name="connsiteX0" fmla="*/ 0 w 13140715"/>
                  <a:gd name="connsiteY0" fmla="*/ 0 h 6858001"/>
                  <a:gd name="connsiteX1" fmla="*/ 12192000 w 13140715"/>
                  <a:gd name="connsiteY1" fmla="*/ 0 h 6858001"/>
                  <a:gd name="connsiteX2" fmla="*/ 12192000 w 13140715"/>
                  <a:gd name="connsiteY2" fmla="*/ 5144401 h 6858001"/>
                  <a:gd name="connsiteX3" fmla="*/ 13140715 w 13140715"/>
                  <a:gd name="connsiteY3" fmla="*/ 5144401 h 6858001"/>
                  <a:gd name="connsiteX4" fmla="*/ 13140715 w 13140715"/>
                  <a:gd name="connsiteY4" fmla="*/ 6858001 h 6858001"/>
                  <a:gd name="connsiteX5" fmla="*/ 12192000 w 13140715"/>
                  <a:gd name="connsiteY5" fmla="*/ 6858001 h 6858001"/>
                  <a:gd name="connsiteX6" fmla="*/ 12192000 w 13140715"/>
                  <a:gd name="connsiteY6" fmla="*/ 6858000 h 6858001"/>
                  <a:gd name="connsiteX7" fmla="*/ 0 w 13140715"/>
                  <a:gd name="connsiteY7" fmla="*/ 6858000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1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5144401"/>
                    </a:lnTo>
                    <a:lnTo>
                      <a:pt x="13140715" y="5144401"/>
                    </a:lnTo>
                    <a:lnTo>
                      <a:pt x="13140715" y="6858001"/>
                    </a:lnTo>
                    <a:lnTo>
                      <a:pt x="12192000" y="6858001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6"/>
              </a:solidFill>
              <a:ln w="19050" cap="rnd">
                <a:solidFill>
                  <a:schemeClr val="accent6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E75168-E3CA-4A46-923B-4E0D5F82F43D}"/>
                  </a:ext>
                </a:extLst>
              </p:cNvPr>
              <p:cNvSpPr/>
              <p:nvPr/>
            </p:nvSpPr>
            <p:spPr>
              <a:xfrm>
                <a:off x="722871" y="672434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Ordner mit einfarbiger Füllung">
              <a:extLst>
                <a:ext uri="{FF2B5EF4-FFF2-40B4-BE49-F238E27FC236}">
                  <a16:creationId xmlns:a16="http://schemas.microsoft.com/office/drawing/2014/main" id="{0B1FAF4A-5B76-4D6B-B95F-7A00BCA28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92000" y="5544752"/>
              <a:ext cx="914400" cy="914400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8156" y="6563995"/>
            <a:ext cx="2283243" cy="228600"/>
          </a:xfrm>
        </p:spPr>
        <p:txBody>
          <a:bodyPr/>
          <a:lstStyle/>
          <a:p>
            <a:pPr rtl="0"/>
            <a:fld id="{C904900C-B1E8-4611-943C-F71B2CD5C61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56601F6A-A4A1-4611-81B9-A91AD26E3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401" y="334629"/>
            <a:ext cx="8561045" cy="1216058"/>
          </a:xfrm>
        </p:spPr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7EAB9D9B-A575-4F16-AF6F-56A13A49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160" y="1793799"/>
            <a:ext cx="4622640" cy="3836114"/>
          </a:xfrm>
        </p:spPr>
        <p:txBody>
          <a:bodyPr>
            <a:normAutofit/>
          </a:bodyPr>
          <a:lstStyle/>
          <a:p>
            <a:r>
              <a:rPr lang="de-DE" sz="2200" dirty="0"/>
              <a:t>Visualisierung des Projekts anhand einer Kanban-Tafel, auf die alle Mitarbeiter Zugriff haben</a:t>
            </a:r>
          </a:p>
          <a:p>
            <a:r>
              <a:rPr lang="de-DE" sz="2200" dirty="0"/>
              <a:t>Aufteilung in mindestens 3 Spalten, z.B. </a:t>
            </a:r>
            <a:r>
              <a:rPr lang="de-DE" sz="2200" dirty="0" err="1"/>
              <a:t>To</a:t>
            </a:r>
            <a:r>
              <a:rPr lang="de-DE" sz="2200" dirty="0"/>
              <a:t>-Do, In Progress, </a:t>
            </a:r>
            <a:r>
              <a:rPr lang="de-DE" sz="2200" dirty="0" err="1"/>
              <a:t>Done</a:t>
            </a:r>
            <a:endParaRPr lang="de-DE" sz="2200" dirty="0"/>
          </a:p>
          <a:p>
            <a:r>
              <a:rPr lang="de-DE" sz="2200" dirty="0"/>
              <a:t>Je höher die Auftragskarte in der Spalte, desto zeitintensiver der Prozess</a:t>
            </a:r>
          </a:p>
          <a:p>
            <a:endParaRPr lang="de-DE" dirty="0"/>
          </a:p>
        </p:txBody>
      </p:sp>
      <p:pic>
        <p:nvPicPr>
          <p:cNvPr id="32" name="Picture 5">
            <a:extLst>
              <a:ext uri="{FF2B5EF4-FFF2-40B4-BE49-F238E27FC236}">
                <a16:creationId xmlns:a16="http://schemas.microsoft.com/office/drawing/2014/main" id="{4C4F482D-6F71-4AC0-8550-F35D0FDA4B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401" y="1646464"/>
            <a:ext cx="9327868" cy="3127499"/>
          </a:xfrm>
          <a:prstGeom prst="rect">
            <a:avLst/>
          </a:prstGeom>
        </p:spPr>
      </p:pic>
      <p:pic>
        <p:nvPicPr>
          <p:cNvPr id="33" name="Picture 7">
            <a:extLst>
              <a:ext uri="{FF2B5EF4-FFF2-40B4-BE49-F238E27FC236}">
                <a16:creationId xmlns:a16="http://schemas.microsoft.com/office/drawing/2014/main" id="{78DAA097-5A93-4BA2-9B99-2092F650B4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40" y="1741738"/>
            <a:ext cx="9952789" cy="352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34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3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3 -0.00232 L 0.23658 -0.2192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9" y="-1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3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4861 L 0.21029 0.1106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21" y="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ECE2F31-0E23-400B-A002-BC098780472E}"/>
              </a:ext>
            </a:extLst>
          </p:cNvPr>
          <p:cNvGrpSpPr/>
          <p:nvPr/>
        </p:nvGrpSpPr>
        <p:grpSpPr>
          <a:xfrm>
            <a:off x="0" y="-4448"/>
            <a:ext cx="13140715" cy="6858000"/>
            <a:chOff x="0" y="1"/>
            <a:chExt cx="13140715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201CE-F6C6-4664-981B-90FB3A163351}"/>
                </a:ext>
              </a:extLst>
            </p:cNvPr>
            <p:cNvGrpSpPr/>
            <p:nvPr/>
          </p:nvGrpSpPr>
          <p:grpSpPr>
            <a:xfrm>
              <a:off x="0" y="1"/>
              <a:ext cx="13140715" cy="6858000"/>
              <a:chOff x="0" y="1"/>
              <a:chExt cx="13140715" cy="68580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F57304-53CD-4F46-AA81-9C22095EDD64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3140715 w 13140715"/>
                  <a:gd name="connsiteY2" fmla="*/ 0 h 6858000"/>
                  <a:gd name="connsiteX3" fmla="*/ 13140715 w 13140715"/>
                  <a:gd name="connsiteY3" fmla="*/ 1713600 h 6858000"/>
                  <a:gd name="connsiteX4" fmla="*/ 12192000 w 13140715"/>
                  <a:gd name="connsiteY4" fmla="*/ 1713600 h 6858000"/>
                  <a:gd name="connsiteX5" fmla="*/ 12192000 w 13140715"/>
                  <a:gd name="connsiteY5" fmla="*/ 6858000 h 6858000"/>
                  <a:gd name="connsiteX6" fmla="*/ 0 w 13140715"/>
                  <a:gd name="connsiteY6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3140715" y="0"/>
                    </a:lnTo>
                    <a:lnTo>
                      <a:pt x="13140715" y="1713600"/>
                    </a:lnTo>
                    <a:lnTo>
                      <a:pt x="12192000" y="1713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339DEB-55AE-4960-9FD0-1A6FE5ED7523}"/>
                  </a:ext>
                </a:extLst>
              </p:cNvPr>
              <p:cNvSpPr/>
              <p:nvPr/>
            </p:nvSpPr>
            <p:spPr>
              <a:xfrm>
                <a:off x="1298157" y="363600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0" name="Grafik 19" descr="Bambus mit einfarbiger Füllung">
              <a:extLst>
                <a:ext uri="{FF2B5EF4-FFF2-40B4-BE49-F238E27FC236}">
                  <a16:creationId xmlns:a16="http://schemas.microsoft.com/office/drawing/2014/main" id="{7D999156-C2CD-4B10-9CB9-11E9510D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23940" y="412887"/>
              <a:ext cx="850520" cy="850520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923267E-DB40-4D2D-BD52-83775668EC7B}"/>
              </a:ext>
            </a:extLst>
          </p:cNvPr>
          <p:cNvGrpSpPr/>
          <p:nvPr/>
        </p:nvGrpSpPr>
        <p:grpSpPr>
          <a:xfrm>
            <a:off x="0" y="-13344"/>
            <a:ext cx="13140715" cy="6858000"/>
            <a:chOff x="-2" y="-3"/>
            <a:chExt cx="1314071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2B826-D0A4-4835-A701-CB4919AE6047}"/>
                </a:ext>
              </a:extLst>
            </p:cNvPr>
            <p:cNvGrpSpPr/>
            <p:nvPr/>
          </p:nvGrpSpPr>
          <p:grpSpPr>
            <a:xfrm>
              <a:off x="-2" y="-3"/>
              <a:ext cx="13140715" cy="6858000"/>
              <a:chOff x="0" y="1"/>
              <a:chExt cx="13140715" cy="6858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AA2CF1B-FA35-494C-BE76-BE6D029A0EC3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1715400 h 6858000"/>
                  <a:gd name="connsiteX3" fmla="*/ 13140715 w 13140715"/>
                  <a:gd name="connsiteY3" fmla="*/ 1715400 h 6858000"/>
                  <a:gd name="connsiteX4" fmla="*/ 13140715 w 13140715"/>
                  <a:gd name="connsiteY4" fmla="*/ 3429000 h 6858000"/>
                  <a:gd name="connsiteX5" fmla="*/ 12192000 w 13140715"/>
                  <a:gd name="connsiteY5" fmla="*/ 34290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15400"/>
                    </a:lnTo>
                    <a:lnTo>
                      <a:pt x="13140715" y="1715400"/>
                    </a:lnTo>
                    <a:lnTo>
                      <a:pt x="13140715" y="3429000"/>
                    </a:lnTo>
                    <a:lnTo>
                      <a:pt x="12192000" y="34290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056B7F-8A20-4B8D-9331-17029663E904}"/>
                  </a:ext>
                </a:extLst>
              </p:cNvPr>
              <p:cNvSpPr/>
              <p:nvPr/>
            </p:nvSpPr>
            <p:spPr>
              <a:xfrm>
                <a:off x="1298157" y="363599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7" name="Grafik 6" descr="Zahnräder">
              <a:extLst>
                <a:ext uri="{FF2B5EF4-FFF2-40B4-BE49-F238E27FC236}">
                  <a16:creationId xmlns:a16="http://schemas.microsoft.com/office/drawing/2014/main" id="{AA67391B-3579-482C-9F0F-EB00BD58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208788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52640F6-5607-4442-82E4-3F2F43D8FCD4}"/>
              </a:ext>
            </a:extLst>
          </p:cNvPr>
          <p:cNvGrpSpPr/>
          <p:nvPr/>
        </p:nvGrpSpPr>
        <p:grpSpPr>
          <a:xfrm>
            <a:off x="-12214237" y="4448"/>
            <a:ext cx="13164756" cy="6858000"/>
            <a:chOff x="-1" y="0"/>
            <a:chExt cx="13164756" cy="6858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097626-232C-4327-8112-41AACE38550C}"/>
                </a:ext>
              </a:extLst>
            </p:cNvPr>
            <p:cNvGrpSpPr/>
            <p:nvPr/>
          </p:nvGrpSpPr>
          <p:grpSpPr>
            <a:xfrm>
              <a:off x="-1" y="0"/>
              <a:ext cx="13140715" cy="6858000"/>
              <a:chOff x="-248281" y="351096"/>
              <a:chExt cx="13140715" cy="685800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5B65C1B-C1F6-4859-AB14-460219C7AF8D}"/>
                  </a:ext>
                </a:extLst>
              </p:cNvPr>
              <p:cNvSpPr/>
              <p:nvPr/>
            </p:nvSpPr>
            <p:spPr>
              <a:xfrm>
                <a:off x="-248281" y="351096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3429000 h 6858000"/>
                  <a:gd name="connsiteX3" fmla="*/ 13140715 w 13140715"/>
                  <a:gd name="connsiteY3" fmla="*/ 3429000 h 6858000"/>
                  <a:gd name="connsiteX4" fmla="*/ 13140715 w 13140715"/>
                  <a:gd name="connsiteY4" fmla="*/ 5142600 h 6858000"/>
                  <a:gd name="connsiteX5" fmla="*/ 12192000 w 13140715"/>
                  <a:gd name="connsiteY5" fmla="*/ 51426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429000"/>
                    </a:lnTo>
                    <a:lnTo>
                      <a:pt x="13140715" y="3429000"/>
                    </a:lnTo>
                    <a:lnTo>
                      <a:pt x="13140715" y="5142600"/>
                    </a:lnTo>
                    <a:lnTo>
                      <a:pt x="12192000" y="5142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3D8E59-CADC-4A47-8863-F3F31178A74D}"/>
                  </a:ext>
                </a:extLst>
              </p:cNvPr>
              <p:cNvSpPr/>
              <p:nvPr/>
            </p:nvSpPr>
            <p:spPr>
              <a:xfrm>
                <a:off x="1049876" y="714696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1" name="Grafik 20" descr="Kommentar Feuer mit einfarbiger Füllung">
              <a:extLst>
                <a:ext uri="{FF2B5EF4-FFF2-40B4-BE49-F238E27FC236}">
                  <a16:creationId xmlns:a16="http://schemas.microsoft.com/office/drawing/2014/main" id="{75DF262D-6B6D-47F0-9C21-614C46AC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33645" y="3757961"/>
              <a:ext cx="1031110" cy="103111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721C1E4-CAB1-4831-B192-6AD58C8EA1DB}"/>
              </a:ext>
            </a:extLst>
          </p:cNvPr>
          <p:cNvGrpSpPr/>
          <p:nvPr/>
        </p:nvGrpSpPr>
        <p:grpSpPr>
          <a:xfrm>
            <a:off x="-12214237" y="4446"/>
            <a:ext cx="13140715" cy="6858001"/>
            <a:chOff x="-1" y="-2"/>
            <a:chExt cx="1314071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D0EF34-64CF-4FE1-AA4B-2D18EED918F4}"/>
                </a:ext>
              </a:extLst>
            </p:cNvPr>
            <p:cNvGrpSpPr/>
            <p:nvPr/>
          </p:nvGrpSpPr>
          <p:grpSpPr>
            <a:xfrm>
              <a:off x="-1" y="-2"/>
              <a:ext cx="13140715" cy="6858001"/>
              <a:chOff x="-575286" y="308835"/>
              <a:chExt cx="13140715" cy="685800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3A59026-03F5-467E-93CB-71CDF21B1CCE}"/>
                  </a:ext>
                </a:extLst>
              </p:cNvPr>
              <p:cNvSpPr/>
              <p:nvPr/>
            </p:nvSpPr>
            <p:spPr>
              <a:xfrm>
                <a:off x="-575286" y="308835"/>
                <a:ext cx="13140715" cy="6858001"/>
              </a:xfrm>
              <a:custGeom>
                <a:avLst/>
                <a:gdLst>
                  <a:gd name="connsiteX0" fmla="*/ 0 w 13140715"/>
                  <a:gd name="connsiteY0" fmla="*/ 0 h 6858001"/>
                  <a:gd name="connsiteX1" fmla="*/ 12192000 w 13140715"/>
                  <a:gd name="connsiteY1" fmla="*/ 0 h 6858001"/>
                  <a:gd name="connsiteX2" fmla="*/ 12192000 w 13140715"/>
                  <a:gd name="connsiteY2" fmla="*/ 5144401 h 6858001"/>
                  <a:gd name="connsiteX3" fmla="*/ 13140715 w 13140715"/>
                  <a:gd name="connsiteY3" fmla="*/ 5144401 h 6858001"/>
                  <a:gd name="connsiteX4" fmla="*/ 13140715 w 13140715"/>
                  <a:gd name="connsiteY4" fmla="*/ 6858001 h 6858001"/>
                  <a:gd name="connsiteX5" fmla="*/ 12192000 w 13140715"/>
                  <a:gd name="connsiteY5" fmla="*/ 6858001 h 6858001"/>
                  <a:gd name="connsiteX6" fmla="*/ 12192000 w 13140715"/>
                  <a:gd name="connsiteY6" fmla="*/ 6858000 h 6858001"/>
                  <a:gd name="connsiteX7" fmla="*/ 0 w 13140715"/>
                  <a:gd name="connsiteY7" fmla="*/ 6858000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1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5144401"/>
                    </a:lnTo>
                    <a:lnTo>
                      <a:pt x="13140715" y="5144401"/>
                    </a:lnTo>
                    <a:lnTo>
                      <a:pt x="13140715" y="6858001"/>
                    </a:lnTo>
                    <a:lnTo>
                      <a:pt x="12192000" y="6858001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6"/>
              </a:solidFill>
              <a:ln w="19050" cap="rnd">
                <a:solidFill>
                  <a:schemeClr val="accent6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E75168-E3CA-4A46-923B-4E0D5F82F43D}"/>
                  </a:ext>
                </a:extLst>
              </p:cNvPr>
              <p:cNvSpPr/>
              <p:nvPr/>
            </p:nvSpPr>
            <p:spPr>
              <a:xfrm>
                <a:off x="722871" y="672434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Ordner mit einfarbiger Füllung">
              <a:extLst>
                <a:ext uri="{FF2B5EF4-FFF2-40B4-BE49-F238E27FC236}">
                  <a16:creationId xmlns:a16="http://schemas.microsoft.com/office/drawing/2014/main" id="{0B1FAF4A-5B76-4D6B-B95F-7A00BCA28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92000" y="5544752"/>
              <a:ext cx="914400" cy="914400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8156" y="6563995"/>
            <a:ext cx="2283243" cy="228600"/>
          </a:xfrm>
        </p:spPr>
        <p:txBody>
          <a:bodyPr/>
          <a:lstStyle/>
          <a:p>
            <a:pPr rtl="0"/>
            <a:fld id="{C904900C-B1E8-4611-943C-F71B2CD5C61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1330C2-1C29-47CE-BC6C-FBCCFBF9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9" y="357198"/>
            <a:ext cx="8748453" cy="1190472"/>
          </a:xfrm>
        </p:spPr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B5FF8A5A-E319-451F-8B5D-8DE56D3C3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399" y="1793799"/>
            <a:ext cx="4419601" cy="3755401"/>
          </a:xfrm>
        </p:spPr>
        <p:txBody>
          <a:bodyPr/>
          <a:lstStyle/>
          <a:p>
            <a:r>
              <a:rPr lang="de-DE" sz="2200" dirty="0"/>
              <a:t>Limitierung der Aufträge für ein Team notwendig</a:t>
            </a:r>
          </a:p>
          <a:p>
            <a:pPr lvl="1"/>
            <a:r>
              <a:rPr lang="de-DE" sz="2200" dirty="0"/>
              <a:t>Bei Problemen in einem Team muss diesem erst geholfen werden</a:t>
            </a:r>
          </a:p>
          <a:p>
            <a:r>
              <a:rPr lang="de-DE" sz="2200" dirty="0"/>
              <a:t>Kadenz: Meeting zur Besprechung von Problemen, Feedback etc.</a:t>
            </a:r>
          </a:p>
          <a:p>
            <a:pPr lvl="1"/>
            <a:r>
              <a:rPr lang="de-DE" sz="2200" dirty="0"/>
              <a:t>Nicht notwendig, aber empfohlen für optimalen Workflow, z.B. Täglich, Wöchentlich</a:t>
            </a:r>
          </a:p>
        </p:txBody>
      </p:sp>
      <p:pic>
        <p:nvPicPr>
          <p:cNvPr id="28" name="Picture 7">
            <a:extLst>
              <a:ext uri="{FF2B5EF4-FFF2-40B4-BE49-F238E27FC236}">
                <a16:creationId xmlns:a16="http://schemas.microsoft.com/office/drawing/2014/main" id="{1DBA77CD-8149-4330-A214-E837983DB6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2901" y="1663104"/>
            <a:ext cx="5218115" cy="1668086"/>
          </a:xfrm>
          <a:prstGeom prst="rect">
            <a:avLst/>
          </a:prstGeom>
        </p:spPr>
      </p:pic>
      <p:sp>
        <p:nvSpPr>
          <p:cNvPr id="29" name="Arrow: Right 8">
            <a:extLst>
              <a:ext uri="{FF2B5EF4-FFF2-40B4-BE49-F238E27FC236}">
                <a16:creationId xmlns:a16="http://schemas.microsoft.com/office/drawing/2014/main" id="{4BA5976F-878A-402D-9FA2-E3DF11570E8D}"/>
              </a:ext>
            </a:extLst>
          </p:cNvPr>
          <p:cNvSpPr/>
          <p:nvPr/>
        </p:nvSpPr>
        <p:spPr>
          <a:xfrm rot="18516628">
            <a:off x="9610732" y="3506152"/>
            <a:ext cx="1261153" cy="520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5C1DB6A7-A374-4D7D-BD76-258A336FBC67}"/>
              </a:ext>
            </a:extLst>
          </p:cNvPr>
          <p:cNvSpPr txBox="1"/>
          <p:nvPr/>
        </p:nvSpPr>
        <p:spPr>
          <a:xfrm>
            <a:off x="8549584" y="4352906"/>
            <a:ext cx="2665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Visualisierung</a:t>
            </a:r>
            <a:r>
              <a:rPr lang="en-US" dirty="0"/>
              <a:t> der </a:t>
            </a:r>
            <a:r>
              <a:rPr lang="en-US" dirty="0" err="1"/>
              <a:t>Zuweisungen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4124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ECE2F31-0E23-400B-A002-BC098780472E}"/>
              </a:ext>
            </a:extLst>
          </p:cNvPr>
          <p:cNvGrpSpPr/>
          <p:nvPr/>
        </p:nvGrpSpPr>
        <p:grpSpPr>
          <a:xfrm>
            <a:off x="0" y="-4448"/>
            <a:ext cx="13140715" cy="6858000"/>
            <a:chOff x="0" y="1"/>
            <a:chExt cx="13140715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201CE-F6C6-4664-981B-90FB3A163351}"/>
                </a:ext>
              </a:extLst>
            </p:cNvPr>
            <p:cNvGrpSpPr/>
            <p:nvPr/>
          </p:nvGrpSpPr>
          <p:grpSpPr>
            <a:xfrm>
              <a:off x="0" y="1"/>
              <a:ext cx="13140715" cy="6858000"/>
              <a:chOff x="0" y="1"/>
              <a:chExt cx="13140715" cy="68580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F57304-53CD-4F46-AA81-9C22095EDD64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3140715 w 13140715"/>
                  <a:gd name="connsiteY2" fmla="*/ 0 h 6858000"/>
                  <a:gd name="connsiteX3" fmla="*/ 13140715 w 13140715"/>
                  <a:gd name="connsiteY3" fmla="*/ 1713600 h 6858000"/>
                  <a:gd name="connsiteX4" fmla="*/ 12192000 w 13140715"/>
                  <a:gd name="connsiteY4" fmla="*/ 1713600 h 6858000"/>
                  <a:gd name="connsiteX5" fmla="*/ 12192000 w 13140715"/>
                  <a:gd name="connsiteY5" fmla="*/ 6858000 h 6858000"/>
                  <a:gd name="connsiteX6" fmla="*/ 0 w 13140715"/>
                  <a:gd name="connsiteY6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3140715" y="0"/>
                    </a:lnTo>
                    <a:lnTo>
                      <a:pt x="13140715" y="1713600"/>
                    </a:lnTo>
                    <a:lnTo>
                      <a:pt x="12192000" y="1713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339DEB-55AE-4960-9FD0-1A6FE5ED7523}"/>
                  </a:ext>
                </a:extLst>
              </p:cNvPr>
              <p:cNvSpPr/>
              <p:nvPr/>
            </p:nvSpPr>
            <p:spPr>
              <a:xfrm>
                <a:off x="1298157" y="363600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0" name="Grafik 19" descr="Bambus mit einfarbiger Füllung">
              <a:extLst>
                <a:ext uri="{FF2B5EF4-FFF2-40B4-BE49-F238E27FC236}">
                  <a16:creationId xmlns:a16="http://schemas.microsoft.com/office/drawing/2014/main" id="{7D999156-C2CD-4B10-9CB9-11E9510D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23940" y="412887"/>
              <a:ext cx="850520" cy="850520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923267E-DB40-4D2D-BD52-83775668EC7B}"/>
              </a:ext>
            </a:extLst>
          </p:cNvPr>
          <p:cNvGrpSpPr/>
          <p:nvPr/>
        </p:nvGrpSpPr>
        <p:grpSpPr>
          <a:xfrm>
            <a:off x="0" y="-13344"/>
            <a:ext cx="13140715" cy="6858000"/>
            <a:chOff x="-2" y="-3"/>
            <a:chExt cx="1314071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2B826-D0A4-4835-A701-CB4919AE6047}"/>
                </a:ext>
              </a:extLst>
            </p:cNvPr>
            <p:cNvGrpSpPr/>
            <p:nvPr/>
          </p:nvGrpSpPr>
          <p:grpSpPr>
            <a:xfrm>
              <a:off x="-2" y="-3"/>
              <a:ext cx="13140715" cy="6858000"/>
              <a:chOff x="0" y="1"/>
              <a:chExt cx="13140715" cy="6858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AA2CF1B-FA35-494C-BE76-BE6D029A0EC3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1715400 h 6858000"/>
                  <a:gd name="connsiteX3" fmla="*/ 13140715 w 13140715"/>
                  <a:gd name="connsiteY3" fmla="*/ 1715400 h 6858000"/>
                  <a:gd name="connsiteX4" fmla="*/ 13140715 w 13140715"/>
                  <a:gd name="connsiteY4" fmla="*/ 3429000 h 6858000"/>
                  <a:gd name="connsiteX5" fmla="*/ 12192000 w 13140715"/>
                  <a:gd name="connsiteY5" fmla="*/ 34290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15400"/>
                    </a:lnTo>
                    <a:lnTo>
                      <a:pt x="13140715" y="1715400"/>
                    </a:lnTo>
                    <a:lnTo>
                      <a:pt x="13140715" y="3429000"/>
                    </a:lnTo>
                    <a:lnTo>
                      <a:pt x="12192000" y="34290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056B7F-8A20-4B8D-9331-17029663E904}"/>
                  </a:ext>
                </a:extLst>
              </p:cNvPr>
              <p:cNvSpPr/>
              <p:nvPr/>
            </p:nvSpPr>
            <p:spPr>
              <a:xfrm>
                <a:off x="1298157" y="363599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7" name="Grafik 6" descr="Zahnräder">
              <a:extLst>
                <a:ext uri="{FF2B5EF4-FFF2-40B4-BE49-F238E27FC236}">
                  <a16:creationId xmlns:a16="http://schemas.microsoft.com/office/drawing/2014/main" id="{AA67391B-3579-482C-9F0F-EB00BD58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208788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52640F6-5607-4442-82E4-3F2F43D8FCD4}"/>
              </a:ext>
            </a:extLst>
          </p:cNvPr>
          <p:cNvGrpSpPr/>
          <p:nvPr/>
        </p:nvGrpSpPr>
        <p:grpSpPr>
          <a:xfrm>
            <a:off x="-12214237" y="4448"/>
            <a:ext cx="13164756" cy="6858000"/>
            <a:chOff x="-1" y="0"/>
            <a:chExt cx="13164756" cy="6858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097626-232C-4327-8112-41AACE38550C}"/>
                </a:ext>
              </a:extLst>
            </p:cNvPr>
            <p:cNvGrpSpPr/>
            <p:nvPr/>
          </p:nvGrpSpPr>
          <p:grpSpPr>
            <a:xfrm>
              <a:off x="-1" y="0"/>
              <a:ext cx="13140715" cy="6858000"/>
              <a:chOff x="-248281" y="351096"/>
              <a:chExt cx="13140715" cy="685800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5B65C1B-C1F6-4859-AB14-460219C7AF8D}"/>
                  </a:ext>
                </a:extLst>
              </p:cNvPr>
              <p:cNvSpPr/>
              <p:nvPr/>
            </p:nvSpPr>
            <p:spPr>
              <a:xfrm>
                <a:off x="-248281" y="351096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3429000 h 6858000"/>
                  <a:gd name="connsiteX3" fmla="*/ 13140715 w 13140715"/>
                  <a:gd name="connsiteY3" fmla="*/ 3429000 h 6858000"/>
                  <a:gd name="connsiteX4" fmla="*/ 13140715 w 13140715"/>
                  <a:gd name="connsiteY4" fmla="*/ 5142600 h 6858000"/>
                  <a:gd name="connsiteX5" fmla="*/ 12192000 w 13140715"/>
                  <a:gd name="connsiteY5" fmla="*/ 51426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429000"/>
                    </a:lnTo>
                    <a:lnTo>
                      <a:pt x="13140715" y="3429000"/>
                    </a:lnTo>
                    <a:lnTo>
                      <a:pt x="13140715" y="5142600"/>
                    </a:lnTo>
                    <a:lnTo>
                      <a:pt x="12192000" y="5142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3D8E59-CADC-4A47-8863-F3F31178A74D}"/>
                  </a:ext>
                </a:extLst>
              </p:cNvPr>
              <p:cNvSpPr/>
              <p:nvPr/>
            </p:nvSpPr>
            <p:spPr>
              <a:xfrm>
                <a:off x="1049876" y="714696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1" name="Grafik 20" descr="Kommentar Feuer mit einfarbiger Füllung">
              <a:extLst>
                <a:ext uri="{FF2B5EF4-FFF2-40B4-BE49-F238E27FC236}">
                  <a16:creationId xmlns:a16="http://schemas.microsoft.com/office/drawing/2014/main" id="{75DF262D-6B6D-47F0-9C21-614C46AC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33645" y="3757961"/>
              <a:ext cx="1031110" cy="103111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721C1E4-CAB1-4831-B192-6AD58C8EA1DB}"/>
              </a:ext>
            </a:extLst>
          </p:cNvPr>
          <p:cNvGrpSpPr/>
          <p:nvPr/>
        </p:nvGrpSpPr>
        <p:grpSpPr>
          <a:xfrm>
            <a:off x="-12214237" y="4446"/>
            <a:ext cx="13140715" cy="6858001"/>
            <a:chOff x="-1" y="-2"/>
            <a:chExt cx="1314071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D0EF34-64CF-4FE1-AA4B-2D18EED918F4}"/>
                </a:ext>
              </a:extLst>
            </p:cNvPr>
            <p:cNvGrpSpPr/>
            <p:nvPr/>
          </p:nvGrpSpPr>
          <p:grpSpPr>
            <a:xfrm>
              <a:off x="-1" y="-2"/>
              <a:ext cx="13140715" cy="6858001"/>
              <a:chOff x="-575286" y="308835"/>
              <a:chExt cx="13140715" cy="685800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3A59026-03F5-467E-93CB-71CDF21B1CCE}"/>
                  </a:ext>
                </a:extLst>
              </p:cNvPr>
              <p:cNvSpPr/>
              <p:nvPr/>
            </p:nvSpPr>
            <p:spPr>
              <a:xfrm>
                <a:off x="-575286" y="308835"/>
                <a:ext cx="13140715" cy="6858001"/>
              </a:xfrm>
              <a:custGeom>
                <a:avLst/>
                <a:gdLst>
                  <a:gd name="connsiteX0" fmla="*/ 0 w 13140715"/>
                  <a:gd name="connsiteY0" fmla="*/ 0 h 6858001"/>
                  <a:gd name="connsiteX1" fmla="*/ 12192000 w 13140715"/>
                  <a:gd name="connsiteY1" fmla="*/ 0 h 6858001"/>
                  <a:gd name="connsiteX2" fmla="*/ 12192000 w 13140715"/>
                  <a:gd name="connsiteY2" fmla="*/ 5144401 h 6858001"/>
                  <a:gd name="connsiteX3" fmla="*/ 13140715 w 13140715"/>
                  <a:gd name="connsiteY3" fmla="*/ 5144401 h 6858001"/>
                  <a:gd name="connsiteX4" fmla="*/ 13140715 w 13140715"/>
                  <a:gd name="connsiteY4" fmla="*/ 6858001 h 6858001"/>
                  <a:gd name="connsiteX5" fmla="*/ 12192000 w 13140715"/>
                  <a:gd name="connsiteY5" fmla="*/ 6858001 h 6858001"/>
                  <a:gd name="connsiteX6" fmla="*/ 12192000 w 13140715"/>
                  <a:gd name="connsiteY6" fmla="*/ 6858000 h 6858001"/>
                  <a:gd name="connsiteX7" fmla="*/ 0 w 13140715"/>
                  <a:gd name="connsiteY7" fmla="*/ 6858000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1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5144401"/>
                    </a:lnTo>
                    <a:lnTo>
                      <a:pt x="13140715" y="5144401"/>
                    </a:lnTo>
                    <a:lnTo>
                      <a:pt x="13140715" y="6858001"/>
                    </a:lnTo>
                    <a:lnTo>
                      <a:pt x="12192000" y="6858001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6"/>
              </a:solidFill>
              <a:ln w="19050" cap="rnd">
                <a:solidFill>
                  <a:schemeClr val="accent6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E75168-E3CA-4A46-923B-4E0D5F82F43D}"/>
                  </a:ext>
                </a:extLst>
              </p:cNvPr>
              <p:cNvSpPr/>
              <p:nvPr/>
            </p:nvSpPr>
            <p:spPr>
              <a:xfrm>
                <a:off x="722871" y="672434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Ordner mit einfarbiger Füllung">
              <a:extLst>
                <a:ext uri="{FF2B5EF4-FFF2-40B4-BE49-F238E27FC236}">
                  <a16:creationId xmlns:a16="http://schemas.microsoft.com/office/drawing/2014/main" id="{0B1FAF4A-5B76-4D6B-B95F-7A00BCA28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92000" y="5544752"/>
              <a:ext cx="914400" cy="914400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8156" y="6563995"/>
            <a:ext cx="2283243" cy="228600"/>
          </a:xfrm>
        </p:spPr>
        <p:txBody>
          <a:bodyPr/>
          <a:lstStyle/>
          <a:p>
            <a:pPr rtl="0"/>
            <a:fld id="{C904900C-B1E8-4611-943C-F71B2CD5C61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pic>
        <p:nvPicPr>
          <p:cNvPr id="26" name="Picture 8">
            <a:extLst>
              <a:ext uri="{FF2B5EF4-FFF2-40B4-BE49-F238E27FC236}">
                <a16:creationId xmlns:a16="http://schemas.microsoft.com/office/drawing/2014/main" id="{733F7092-F93B-4C68-8EF5-0DC8AD13B5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7634" y="2597373"/>
            <a:ext cx="5686425" cy="27813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AB71025-6878-4C72-88ED-1113A60C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6"/>
            <a:ext cx="9677400" cy="1158980"/>
          </a:xfrm>
        </p:spPr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28F8A00-019B-4D89-A873-66046983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793800"/>
            <a:ext cx="9934407" cy="535622"/>
          </a:xfrm>
        </p:spPr>
        <p:txBody>
          <a:bodyPr/>
          <a:lstStyle/>
          <a:p>
            <a:r>
              <a:rPr lang="de-DE" sz="1800" dirty="0"/>
              <a:t>Weitere Funktionen möglich: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92DDD5EC-F536-4E3A-A902-A728FEBCCC30}"/>
              </a:ext>
            </a:extLst>
          </p:cNvPr>
          <p:cNvSpPr txBox="1"/>
          <p:nvPr/>
        </p:nvSpPr>
        <p:spPr>
          <a:xfrm>
            <a:off x="7466485" y="1444437"/>
            <a:ext cx="2835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Abgabe</a:t>
            </a:r>
            <a:r>
              <a:rPr lang="en-US" sz="2400" dirty="0"/>
              <a:t> Datum/Deadline</a:t>
            </a:r>
            <a:endParaRPr lang="de-DE" sz="2400" dirty="0"/>
          </a:p>
        </p:txBody>
      </p:sp>
      <p:sp>
        <p:nvSpPr>
          <p:cNvPr id="30" name="Arrow: Right 9">
            <a:extLst>
              <a:ext uri="{FF2B5EF4-FFF2-40B4-BE49-F238E27FC236}">
                <a16:creationId xmlns:a16="http://schemas.microsoft.com/office/drawing/2014/main" id="{2D57814E-24CB-4542-954B-6ACEED008961}"/>
              </a:ext>
            </a:extLst>
          </p:cNvPr>
          <p:cNvSpPr/>
          <p:nvPr/>
        </p:nvSpPr>
        <p:spPr>
          <a:xfrm rot="10800000">
            <a:off x="8965668" y="3282525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Arrow: Right 10" descr="Due Date&#10;">
            <a:extLst>
              <a:ext uri="{FF2B5EF4-FFF2-40B4-BE49-F238E27FC236}">
                <a16:creationId xmlns:a16="http://schemas.microsoft.com/office/drawing/2014/main" id="{77BE41A6-A277-4BF7-992F-4322568C82A4}"/>
              </a:ext>
            </a:extLst>
          </p:cNvPr>
          <p:cNvSpPr/>
          <p:nvPr/>
        </p:nvSpPr>
        <p:spPr>
          <a:xfrm rot="7549317">
            <a:off x="6474608" y="2522974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Arrow: Right 11">
            <a:extLst>
              <a:ext uri="{FF2B5EF4-FFF2-40B4-BE49-F238E27FC236}">
                <a16:creationId xmlns:a16="http://schemas.microsoft.com/office/drawing/2014/main" id="{4D0103DA-9351-472C-ACBD-062B3A527710}"/>
              </a:ext>
            </a:extLst>
          </p:cNvPr>
          <p:cNvSpPr/>
          <p:nvPr/>
        </p:nvSpPr>
        <p:spPr>
          <a:xfrm rot="1662461">
            <a:off x="2606744" y="3423210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Arrow: Right 12">
            <a:extLst>
              <a:ext uri="{FF2B5EF4-FFF2-40B4-BE49-F238E27FC236}">
                <a16:creationId xmlns:a16="http://schemas.microsoft.com/office/drawing/2014/main" id="{F2804AEB-B7AC-4491-BB42-39428CC0AE00}"/>
              </a:ext>
            </a:extLst>
          </p:cNvPr>
          <p:cNvSpPr/>
          <p:nvPr/>
        </p:nvSpPr>
        <p:spPr>
          <a:xfrm rot="18788289">
            <a:off x="4344414" y="4713235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ED6831B3-4852-4246-9CB8-46DEFB0A43B1}"/>
              </a:ext>
            </a:extLst>
          </p:cNvPr>
          <p:cNvSpPr txBox="1"/>
          <p:nvPr/>
        </p:nvSpPr>
        <p:spPr>
          <a:xfrm>
            <a:off x="10485538" y="3128533"/>
            <a:ext cx="2261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Datei</a:t>
            </a:r>
            <a:br>
              <a:rPr lang="en-US" sz="2400" dirty="0"/>
            </a:br>
            <a:r>
              <a:rPr lang="en-US" sz="2400" dirty="0" err="1"/>
              <a:t>Anhänge</a:t>
            </a:r>
            <a:endParaRPr lang="de-DE" sz="2400" dirty="0"/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601FD5CD-2B46-4574-A94D-8CA71A6C9A3E}"/>
              </a:ext>
            </a:extLst>
          </p:cNvPr>
          <p:cNvSpPr txBox="1"/>
          <p:nvPr/>
        </p:nvSpPr>
        <p:spPr>
          <a:xfrm>
            <a:off x="3405161" y="5581714"/>
            <a:ext cx="126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Priorität</a:t>
            </a:r>
            <a:endParaRPr lang="de-DE" sz="2400" dirty="0"/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146F87A1-8D9C-411E-B42A-F30EC40EE2DB}"/>
              </a:ext>
            </a:extLst>
          </p:cNvPr>
          <p:cNvSpPr txBox="1"/>
          <p:nvPr/>
        </p:nvSpPr>
        <p:spPr>
          <a:xfrm>
            <a:off x="1340360" y="2682987"/>
            <a:ext cx="2198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Abstimmungen</a:t>
            </a:r>
            <a:endParaRPr lang="de-DE" dirty="0"/>
          </a:p>
        </p:txBody>
      </p:sp>
      <p:pic>
        <p:nvPicPr>
          <p:cNvPr id="37" name="Picture 18">
            <a:extLst>
              <a:ext uri="{FF2B5EF4-FFF2-40B4-BE49-F238E27FC236}">
                <a16:creationId xmlns:a16="http://schemas.microsoft.com/office/drawing/2014/main" id="{129FE315-9B43-4EB0-8193-F617233551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9772" y="3959530"/>
            <a:ext cx="733425" cy="523875"/>
          </a:xfrm>
          <a:prstGeom prst="rect">
            <a:avLst/>
          </a:prstGeom>
        </p:spPr>
      </p:pic>
      <p:sp>
        <p:nvSpPr>
          <p:cNvPr id="38" name="Arrow: Right 19">
            <a:extLst>
              <a:ext uri="{FF2B5EF4-FFF2-40B4-BE49-F238E27FC236}">
                <a16:creationId xmlns:a16="http://schemas.microsoft.com/office/drawing/2014/main" id="{263F8CAF-BD21-43C7-94A4-2349831555D1}"/>
              </a:ext>
            </a:extLst>
          </p:cNvPr>
          <p:cNvSpPr/>
          <p:nvPr/>
        </p:nvSpPr>
        <p:spPr>
          <a:xfrm rot="13463687">
            <a:off x="7473744" y="4597447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DEA40BD9-A34F-49CA-A8CF-1BD5C65E9B70}"/>
              </a:ext>
            </a:extLst>
          </p:cNvPr>
          <p:cNvSpPr txBox="1"/>
          <p:nvPr/>
        </p:nvSpPr>
        <p:spPr>
          <a:xfrm>
            <a:off x="8744288" y="5458801"/>
            <a:ext cx="2696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Anbindung</a:t>
            </a:r>
            <a:r>
              <a:rPr lang="en-US" sz="2400" dirty="0"/>
              <a:t> </a:t>
            </a:r>
            <a:r>
              <a:rPr lang="en-US" sz="2400" dirty="0" err="1"/>
              <a:t>weiterer</a:t>
            </a:r>
            <a:r>
              <a:rPr lang="en-US" sz="2400" dirty="0"/>
              <a:t> Software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969472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8" grpId="0" build="p"/>
      <p:bldP spid="29" grpId="0"/>
      <p:bldP spid="30" grpId="0" animBg="1"/>
      <p:bldP spid="31" grpId="0" animBg="1"/>
      <p:bldP spid="32" grpId="0" animBg="1"/>
      <p:bldP spid="33" grpId="0" animBg="1"/>
      <p:bldP spid="34" grpId="0"/>
      <p:bldP spid="35" grpId="0"/>
      <p:bldP spid="36" grpId="0"/>
      <p:bldP spid="38" grpId="0" animBg="1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ECE2F31-0E23-400B-A002-BC098780472E}"/>
              </a:ext>
            </a:extLst>
          </p:cNvPr>
          <p:cNvGrpSpPr/>
          <p:nvPr/>
        </p:nvGrpSpPr>
        <p:grpSpPr>
          <a:xfrm>
            <a:off x="0" y="-4448"/>
            <a:ext cx="13140715" cy="6858000"/>
            <a:chOff x="0" y="1"/>
            <a:chExt cx="13140715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201CE-F6C6-4664-981B-90FB3A163351}"/>
                </a:ext>
              </a:extLst>
            </p:cNvPr>
            <p:cNvGrpSpPr/>
            <p:nvPr/>
          </p:nvGrpSpPr>
          <p:grpSpPr>
            <a:xfrm>
              <a:off x="0" y="1"/>
              <a:ext cx="13140715" cy="6858000"/>
              <a:chOff x="0" y="1"/>
              <a:chExt cx="13140715" cy="68580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F57304-53CD-4F46-AA81-9C22095EDD64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3140715 w 13140715"/>
                  <a:gd name="connsiteY2" fmla="*/ 0 h 6858000"/>
                  <a:gd name="connsiteX3" fmla="*/ 13140715 w 13140715"/>
                  <a:gd name="connsiteY3" fmla="*/ 1713600 h 6858000"/>
                  <a:gd name="connsiteX4" fmla="*/ 12192000 w 13140715"/>
                  <a:gd name="connsiteY4" fmla="*/ 1713600 h 6858000"/>
                  <a:gd name="connsiteX5" fmla="*/ 12192000 w 13140715"/>
                  <a:gd name="connsiteY5" fmla="*/ 6858000 h 6858000"/>
                  <a:gd name="connsiteX6" fmla="*/ 0 w 13140715"/>
                  <a:gd name="connsiteY6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3140715" y="0"/>
                    </a:lnTo>
                    <a:lnTo>
                      <a:pt x="13140715" y="1713600"/>
                    </a:lnTo>
                    <a:lnTo>
                      <a:pt x="12192000" y="1713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339DEB-55AE-4960-9FD0-1A6FE5ED7523}"/>
                  </a:ext>
                </a:extLst>
              </p:cNvPr>
              <p:cNvSpPr/>
              <p:nvPr/>
            </p:nvSpPr>
            <p:spPr>
              <a:xfrm>
                <a:off x="1298157" y="363600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0" name="Grafik 19" descr="Bambus mit einfarbiger Füllung">
              <a:extLst>
                <a:ext uri="{FF2B5EF4-FFF2-40B4-BE49-F238E27FC236}">
                  <a16:creationId xmlns:a16="http://schemas.microsoft.com/office/drawing/2014/main" id="{7D999156-C2CD-4B10-9CB9-11E9510D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23940" y="412887"/>
              <a:ext cx="850520" cy="850520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923267E-DB40-4D2D-BD52-83775668EC7B}"/>
              </a:ext>
            </a:extLst>
          </p:cNvPr>
          <p:cNvGrpSpPr/>
          <p:nvPr/>
        </p:nvGrpSpPr>
        <p:grpSpPr>
          <a:xfrm>
            <a:off x="0" y="-13344"/>
            <a:ext cx="13140715" cy="6858000"/>
            <a:chOff x="-2" y="-3"/>
            <a:chExt cx="1314071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2B826-D0A4-4835-A701-CB4919AE6047}"/>
                </a:ext>
              </a:extLst>
            </p:cNvPr>
            <p:cNvGrpSpPr/>
            <p:nvPr/>
          </p:nvGrpSpPr>
          <p:grpSpPr>
            <a:xfrm>
              <a:off x="-2" y="-3"/>
              <a:ext cx="13140715" cy="6858000"/>
              <a:chOff x="0" y="1"/>
              <a:chExt cx="13140715" cy="6858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AA2CF1B-FA35-494C-BE76-BE6D029A0EC3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1715400 h 6858000"/>
                  <a:gd name="connsiteX3" fmla="*/ 13140715 w 13140715"/>
                  <a:gd name="connsiteY3" fmla="*/ 1715400 h 6858000"/>
                  <a:gd name="connsiteX4" fmla="*/ 13140715 w 13140715"/>
                  <a:gd name="connsiteY4" fmla="*/ 3429000 h 6858000"/>
                  <a:gd name="connsiteX5" fmla="*/ 12192000 w 13140715"/>
                  <a:gd name="connsiteY5" fmla="*/ 34290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15400"/>
                    </a:lnTo>
                    <a:lnTo>
                      <a:pt x="13140715" y="1715400"/>
                    </a:lnTo>
                    <a:lnTo>
                      <a:pt x="13140715" y="3429000"/>
                    </a:lnTo>
                    <a:lnTo>
                      <a:pt x="12192000" y="34290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056B7F-8A20-4B8D-9331-17029663E904}"/>
                  </a:ext>
                </a:extLst>
              </p:cNvPr>
              <p:cNvSpPr/>
              <p:nvPr/>
            </p:nvSpPr>
            <p:spPr>
              <a:xfrm>
                <a:off x="1298157" y="363599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7" name="Grafik 6" descr="Zahnräder">
              <a:extLst>
                <a:ext uri="{FF2B5EF4-FFF2-40B4-BE49-F238E27FC236}">
                  <a16:creationId xmlns:a16="http://schemas.microsoft.com/office/drawing/2014/main" id="{AA67391B-3579-482C-9F0F-EB00BD58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208788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52640F6-5607-4442-82E4-3F2F43D8FCD4}"/>
              </a:ext>
            </a:extLst>
          </p:cNvPr>
          <p:cNvGrpSpPr/>
          <p:nvPr/>
        </p:nvGrpSpPr>
        <p:grpSpPr>
          <a:xfrm>
            <a:off x="-12214237" y="4448"/>
            <a:ext cx="13164756" cy="6858000"/>
            <a:chOff x="-1" y="0"/>
            <a:chExt cx="13164756" cy="6858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097626-232C-4327-8112-41AACE38550C}"/>
                </a:ext>
              </a:extLst>
            </p:cNvPr>
            <p:cNvGrpSpPr/>
            <p:nvPr/>
          </p:nvGrpSpPr>
          <p:grpSpPr>
            <a:xfrm>
              <a:off x="-1" y="0"/>
              <a:ext cx="13140715" cy="6858000"/>
              <a:chOff x="-248281" y="351096"/>
              <a:chExt cx="13140715" cy="685800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5B65C1B-C1F6-4859-AB14-460219C7AF8D}"/>
                  </a:ext>
                </a:extLst>
              </p:cNvPr>
              <p:cNvSpPr/>
              <p:nvPr/>
            </p:nvSpPr>
            <p:spPr>
              <a:xfrm>
                <a:off x="-248281" y="351096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3429000 h 6858000"/>
                  <a:gd name="connsiteX3" fmla="*/ 13140715 w 13140715"/>
                  <a:gd name="connsiteY3" fmla="*/ 3429000 h 6858000"/>
                  <a:gd name="connsiteX4" fmla="*/ 13140715 w 13140715"/>
                  <a:gd name="connsiteY4" fmla="*/ 5142600 h 6858000"/>
                  <a:gd name="connsiteX5" fmla="*/ 12192000 w 13140715"/>
                  <a:gd name="connsiteY5" fmla="*/ 51426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429000"/>
                    </a:lnTo>
                    <a:lnTo>
                      <a:pt x="13140715" y="3429000"/>
                    </a:lnTo>
                    <a:lnTo>
                      <a:pt x="13140715" y="5142600"/>
                    </a:lnTo>
                    <a:lnTo>
                      <a:pt x="12192000" y="5142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3D8E59-CADC-4A47-8863-F3F31178A74D}"/>
                  </a:ext>
                </a:extLst>
              </p:cNvPr>
              <p:cNvSpPr/>
              <p:nvPr/>
            </p:nvSpPr>
            <p:spPr>
              <a:xfrm>
                <a:off x="1049876" y="714696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1" name="Grafik 20" descr="Kommentar Feuer mit einfarbiger Füllung">
              <a:extLst>
                <a:ext uri="{FF2B5EF4-FFF2-40B4-BE49-F238E27FC236}">
                  <a16:creationId xmlns:a16="http://schemas.microsoft.com/office/drawing/2014/main" id="{75DF262D-6B6D-47F0-9C21-614C46AC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33645" y="3757961"/>
              <a:ext cx="1031110" cy="103111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721C1E4-CAB1-4831-B192-6AD58C8EA1DB}"/>
              </a:ext>
            </a:extLst>
          </p:cNvPr>
          <p:cNvGrpSpPr/>
          <p:nvPr/>
        </p:nvGrpSpPr>
        <p:grpSpPr>
          <a:xfrm>
            <a:off x="-12214237" y="4446"/>
            <a:ext cx="13140715" cy="6858001"/>
            <a:chOff x="-1" y="-2"/>
            <a:chExt cx="1314071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D0EF34-64CF-4FE1-AA4B-2D18EED918F4}"/>
                </a:ext>
              </a:extLst>
            </p:cNvPr>
            <p:cNvGrpSpPr/>
            <p:nvPr/>
          </p:nvGrpSpPr>
          <p:grpSpPr>
            <a:xfrm>
              <a:off x="-1" y="-2"/>
              <a:ext cx="13140715" cy="6858001"/>
              <a:chOff x="-575286" y="308835"/>
              <a:chExt cx="13140715" cy="685800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3A59026-03F5-467E-93CB-71CDF21B1CCE}"/>
                  </a:ext>
                </a:extLst>
              </p:cNvPr>
              <p:cNvSpPr/>
              <p:nvPr/>
            </p:nvSpPr>
            <p:spPr>
              <a:xfrm>
                <a:off x="-575286" y="308835"/>
                <a:ext cx="13140715" cy="6858001"/>
              </a:xfrm>
              <a:custGeom>
                <a:avLst/>
                <a:gdLst>
                  <a:gd name="connsiteX0" fmla="*/ 0 w 13140715"/>
                  <a:gd name="connsiteY0" fmla="*/ 0 h 6858001"/>
                  <a:gd name="connsiteX1" fmla="*/ 12192000 w 13140715"/>
                  <a:gd name="connsiteY1" fmla="*/ 0 h 6858001"/>
                  <a:gd name="connsiteX2" fmla="*/ 12192000 w 13140715"/>
                  <a:gd name="connsiteY2" fmla="*/ 5144401 h 6858001"/>
                  <a:gd name="connsiteX3" fmla="*/ 13140715 w 13140715"/>
                  <a:gd name="connsiteY3" fmla="*/ 5144401 h 6858001"/>
                  <a:gd name="connsiteX4" fmla="*/ 13140715 w 13140715"/>
                  <a:gd name="connsiteY4" fmla="*/ 6858001 h 6858001"/>
                  <a:gd name="connsiteX5" fmla="*/ 12192000 w 13140715"/>
                  <a:gd name="connsiteY5" fmla="*/ 6858001 h 6858001"/>
                  <a:gd name="connsiteX6" fmla="*/ 12192000 w 13140715"/>
                  <a:gd name="connsiteY6" fmla="*/ 6858000 h 6858001"/>
                  <a:gd name="connsiteX7" fmla="*/ 0 w 13140715"/>
                  <a:gd name="connsiteY7" fmla="*/ 6858000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1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5144401"/>
                    </a:lnTo>
                    <a:lnTo>
                      <a:pt x="13140715" y="5144401"/>
                    </a:lnTo>
                    <a:lnTo>
                      <a:pt x="13140715" y="6858001"/>
                    </a:lnTo>
                    <a:lnTo>
                      <a:pt x="12192000" y="6858001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6"/>
              </a:solidFill>
              <a:ln w="19050" cap="rnd">
                <a:solidFill>
                  <a:schemeClr val="accent6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E75168-E3CA-4A46-923B-4E0D5F82F43D}"/>
                  </a:ext>
                </a:extLst>
              </p:cNvPr>
              <p:cNvSpPr/>
              <p:nvPr/>
            </p:nvSpPr>
            <p:spPr>
              <a:xfrm>
                <a:off x="722871" y="672434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Ordner mit einfarbiger Füllung">
              <a:extLst>
                <a:ext uri="{FF2B5EF4-FFF2-40B4-BE49-F238E27FC236}">
                  <a16:creationId xmlns:a16="http://schemas.microsoft.com/office/drawing/2014/main" id="{0B1FAF4A-5B76-4D6B-B95F-7A00BCA28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92000" y="5544752"/>
              <a:ext cx="914400" cy="914400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8156" y="6563995"/>
            <a:ext cx="2283243" cy="228600"/>
          </a:xfrm>
        </p:spPr>
        <p:txBody>
          <a:bodyPr/>
          <a:lstStyle/>
          <a:p>
            <a:pPr rtl="0"/>
            <a:fld id="{C904900C-B1E8-4611-943C-F71B2CD5C61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B811BB74-B231-4CB6-B90F-0337E539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365125"/>
            <a:ext cx="10038080" cy="1105795"/>
          </a:xfrm>
        </p:spPr>
        <p:txBody>
          <a:bodyPr/>
          <a:lstStyle/>
          <a:p>
            <a:r>
              <a:rPr lang="de-DE" dirty="0"/>
              <a:t>Prinzipe</a:t>
            </a:r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CDF161B4-593A-40DD-BF36-98DB02601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1825625"/>
            <a:ext cx="10038080" cy="4351338"/>
          </a:xfrm>
        </p:spPr>
        <p:txBody>
          <a:bodyPr>
            <a:normAutofit/>
          </a:bodyPr>
          <a:lstStyle/>
          <a:p>
            <a:r>
              <a:rPr lang="de-DE" sz="2400" dirty="0"/>
              <a:t>Visualisierung: Kanban-Board zur einfach Übersicht wie weit Projekt vorangeschritten ist</a:t>
            </a:r>
          </a:p>
          <a:p>
            <a:r>
              <a:rPr lang="de-DE" sz="2400" dirty="0"/>
              <a:t>Limitierung: Maximale Anzahl an Aufträgen pro Spalte -&gt; Effizienz</a:t>
            </a:r>
          </a:p>
          <a:p>
            <a:r>
              <a:rPr lang="de-DE" sz="2400" dirty="0"/>
              <a:t>Management: Blockaden und Engpässe müssen behoben werden, Kapazitäten werden effizient verteilt</a:t>
            </a:r>
          </a:p>
          <a:p>
            <a:r>
              <a:rPr lang="de-DE" sz="2400" dirty="0"/>
              <a:t>Regulierung: Explizite Prozessregeln, werden meist vor Beginn festgelegt</a:t>
            </a:r>
          </a:p>
          <a:p>
            <a:r>
              <a:rPr lang="de-DE" sz="2400" dirty="0"/>
              <a:t>Feedback: Rückmeldungen zur Verbesserung der Arbeitsprozesse durch Kadenzen</a:t>
            </a:r>
          </a:p>
          <a:p>
            <a:r>
              <a:rPr lang="de-DE" sz="2400" dirty="0"/>
              <a:t>Kaizen: Prinzip der dauerhaften Verbesserung, keine Perfektion erreichbar</a:t>
            </a:r>
          </a:p>
        </p:txBody>
      </p:sp>
    </p:spTree>
    <p:extLst>
      <p:ext uri="{BB962C8B-B14F-4D97-AF65-F5344CB8AC3E}">
        <p14:creationId xmlns:p14="http://schemas.microsoft.com/office/powerpoint/2010/main" val="1677374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ECE2F31-0E23-400B-A002-BC098780472E}"/>
              </a:ext>
            </a:extLst>
          </p:cNvPr>
          <p:cNvGrpSpPr/>
          <p:nvPr/>
        </p:nvGrpSpPr>
        <p:grpSpPr>
          <a:xfrm>
            <a:off x="0" y="-4448"/>
            <a:ext cx="13140715" cy="6858000"/>
            <a:chOff x="0" y="1"/>
            <a:chExt cx="13140715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201CE-F6C6-4664-981B-90FB3A163351}"/>
                </a:ext>
              </a:extLst>
            </p:cNvPr>
            <p:cNvGrpSpPr/>
            <p:nvPr/>
          </p:nvGrpSpPr>
          <p:grpSpPr>
            <a:xfrm>
              <a:off x="0" y="1"/>
              <a:ext cx="13140715" cy="6858000"/>
              <a:chOff x="0" y="1"/>
              <a:chExt cx="13140715" cy="68580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F57304-53CD-4F46-AA81-9C22095EDD64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3140715 w 13140715"/>
                  <a:gd name="connsiteY2" fmla="*/ 0 h 6858000"/>
                  <a:gd name="connsiteX3" fmla="*/ 13140715 w 13140715"/>
                  <a:gd name="connsiteY3" fmla="*/ 1713600 h 6858000"/>
                  <a:gd name="connsiteX4" fmla="*/ 12192000 w 13140715"/>
                  <a:gd name="connsiteY4" fmla="*/ 1713600 h 6858000"/>
                  <a:gd name="connsiteX5" fmla="*/ 12192000 w 13140715"/>
                  <a:gd name="connsiteY5" fmla="*/ 6858000 h 6858000"/>
                  <a:gd name="connsiteX6" fmla="*/ 0 w 13140715"/>
                  <a:gd name="connsiteY6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3140715" y="0"/>
                    </a:lnTo>
                    <a:lnTo>
                      <a:pt x="13140715" y="1713600"/>
                    </a:lnTo>
                    <a:lnTo>
                      <a:pt x="12192000" y="1713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339DEB-55AE-4960-9FD0-1A6FE5ED7523}"/>
                  </a:ext>
                </a:extLst>
              </p:cNvPr>
              <p:cNvSpPr/>
              <p:nvPr/>
            </p:nvSpPr>
            <p:spPr>
              <a:xfrm>
                <a:off x="1298157" y="363600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0" name="Grafik 19" descr="Bambus mit einfarbiger Füllung">
              <a:extLst>
                <a:ext uri="{FF2B5EF4-FFF2-40B4-BE49-F238E27FC236}">
                  <a16:creationId xmlns:a16="http://schemas.microsoft.com/office/drawing/2014/main" id="{7D999156-C2CD-4B10-9CB9-11E9510D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23940" y="412887"/>
              <a:ext cx="850520" cy="850520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923267E-DB40-4D2D-BD52-83775668EC7B}"/>
              </a:ext>
            </a:extLst>
          </p:cNvPr>
          <p:cNvGrpSpPr/>
          <p:nvPr/>
        </p:nvGrpSpPr>
        <p:grpSpPr>
          <a:xfrm>
            <a:off x="0" y="-13344"/>
            <a:ext cx="13140715" cy="6858000"/>
            <a:chOff x="-2" y="-3"/>
            <a:chExt cx="1314071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2B826-D0A4-4835-A701-CB4919AE6047}"/>
                </a:ext>
              </a:extLst>
            </p:cNvPr>
            <p:cNvGrpSpPr/>
            <p:nvPr/>
          </p:nvGrpSpPr>
          <p:grpSpPr>
            <a:xfrm>
              <a:off x="-2" y="-3"/>
              <a:ext cx="13140715" cy="6858000"/>
              <a:chOff x="0" y="1"/>
              <a:chExt cx="13140715" cy="6858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AA2CF1B-FA35-494C-BE76-BE6D029A0EC3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1715400 h 6858000"/>
                  <a:gd name="connsiteX3" fmla="*/ 13140715 w 13140715"/>
                  <a:gd name="connsiteY3" fmla="*/ 1715400 h 6858000"/>
                  <a:gd name="connsiteX4" fmla="*/ 13140715 w 13140715"/>
                  <a:gd name="connsiteY4" fmla="*/ 3429000 h 6858000"/>
                  <a:gd name="connsiteX5" fmla="*/ 12192000 w 13140715"/>
                  <a:gd name="connsiteY5" fmla="*/ 34290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15400"/>
                    </a:lnTo>
                    <a:lnTo>
                      <a:pt x="13140715" y="1715400"/>
                    </a:lnTo>
                    <a:lnTo>
                      <a:pt x="13140715" y="3429000"/>
                    </a:lnTo>
                    <a:lnTo>
                      <a:pt x="12192000" y="34290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056B7F-8A20-4B8D-9331-17029663E904}"/>
                  </a:ext>
                </a:extLst>
              </p:cNvPr>
              <p:cNvSpPr/>
              <p:nvPr/>
            </p:nvSpPr>
            <p:spPr>
              <a:xfrm>
                <a:off x="1298157" y="363599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7" name="Grafik 6" descr="Zahnräder">
              <a:extLst>
                <a:ext uri="{FF2B5EF4-FFF2-40B4-BE49-F238E27FC236}">
                  <a16:creationId xmlns:a16="http://schemas.microsoft.com/office/drawing/2014/main" id="{AA67391B-3579-482C-9F0F-EB00BD58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208788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52640F6-5607-4442-82E4-3F2F43D8FCD4}"/>
              </a:ext>
            </a:extLst>
          </p:cNvPr>
          <p:cNvGrpSpPr/>
          <p:nvPr/>
        </p:nvGrpSpPr>
        <p:grpSpPr>
          <a:xfrm>
            <a:off x="10160" y="-13346"/>
            <a:ext cx="13164756" cy="6858000"/>
            <a:chOff x="-1" y="0"/>
            <a:chExt cx="13164756" cy="6858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097626-232C-4327-8112-41AACE38550C}"/>
                </a:ext>
              </a:extLst>
            </p:cNvPr>
            <p:cNvGrpSpPr/>
            <p:nvPr/>
          </p:nvGrpSpPr>
          <p:grpSpPr>
            <a:xfrm>
              <a:off x="-1" y="0"/>
              <a:ext cx="13140715" cy="6858000"/>
              <a:chOff x="-248281" y="351096"/>
              <a:chExt cx="13140715" cy="685800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5B65C1B-C1F6-4859-AB14-460219C7AF8D}"/>
                  </a:ext>
                </a:extLst>
              </p:cNvPr>
              <p:cNvSpPr/>
              <p:nvPr/>
            </p:nvSpPr>
            <p:spPr>
              <a:xfrm>
                <a:off x="-248281" y="351096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3429000 h 6858000"/>
                  <a:gd name="connsiteX3" fmla="*/ 13140715 w 13140715"/>
                  <a:gd name="connsiteY3" fmla="*/ 3429000 h 6858000"/>
                  <a:gd name="connsiteX4" fmla="*/ 13140715 w 13140715"/>
                  <a:gd name="connsiteY4" fmla="*/ 5142600 h 6858000"/>
                  <a:gd name="connsiteX5" fmla="*/ 12192000 w 13140715"/>
                  <a:gd name="connsiteY5" fmla="*/ 51426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429000"/>
                    </a:lnTo>
                    <a:lnTo>
                      <a:pt x="13140715" y="3429000"/>
                    </a:lnTo>
                    <a:lnTo>
                      <a:pt x="13140715" y="5142600"/>
                    </a:lnTo>
                    <a:lnTo>
                      <a:pt x="12192000" y="5142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3D8E59-CADC-4A47-8863-F3F31178A74D}"/>
                  </a:ext>
                </a:extLst>
              </p:cNvPr>
              <p:cNvSpPr/>
              <p:nvPr/>
            </p:nvSpPr>
            <p:spPr>
              <a:xfrm>
                <a:off x="1049876" y="714696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1" name="Grafik 20" descr="Kommentar Feuer mit einfarbiger Füllung">
              <a:extLst>
                <a:ext uri="{FF2B5EF4-FFF2-40B4-BE49-F238E27FC236}">
                  <a16:creationId xmlns:a16="http://schemas.microsoft.com/office/drawing/2014/main" id="{75DF262D-6B6D-47F0-9C21-614C46AC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33645" y="3757961"/>
              <a:ext cx="1031110" cy="103111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721C1E4-CAB1-4831-B192-6AD58C8EA1DB}"/>
              </a:ext>
            </a:extLst>
          </p:cNvPr>
          <p:cNvGrpSpPr/>
          <p:nvPr/>
        </p:nvGrpSpPr>
        <p:grpSpPr>
          <a:xfrm>
            <a:off x="-12214237" y="4446"/>
            <a:ext cx="13140715" cy="6858001"/>
            <a:chOff x="-1" y="-2"/>
            <a:chExt cx="1314071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D0EF34-64CF-4FE1-AA4B-2D18EED918F4}"/>
                </a:ext>
              </a:extLst>
            </p:cNvPr>
            <p:cNvGrpSpPr/>
            <p:nvPr/>
          </p:nvGrpSpPr>
          <p:grpSpPr>
            <a:xfrm>
              <a:off x="-1" y="-2"/>
              <a:ext cx="13140715" cy="6858001"/>
              <a:chOff x="-575286" y="308835"/>
              <a:chExt cx="13140715" cy="685800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3A59026-03F5-467E-93CB-71CDF21B1CCE}"/>
                  </a:ext>
                </a:extLst>
              </p:cNvPr>
              <p:cNvSpPr/>
              <p:nvPr/>
            </p:nvSpPr>
            <p:spPr>
              <a:xfrm>
                <a:off x="-575286" y="308835"/>
                <a:ext cx="13140715" cy="6858001"/>
              </a:xfrm>
              <a:custGeom>
                <a:avLst/>
                <a:gdLst>
                  <a:gd name="connsiteX0" fmla="*/ 0 w 13140715"/>
                  <a:gd name="connsiteY0" fmla="*/ 0 h 6858001"/>
                  <a:gd name="connsiteX1" fmla="*/ 12192000 w 13140715"/>
                  <a:gd name="connsiteY1" fmla="*/ 0 h 6858001"/>
                  <a:gd name="connsiteX2" fmla="*/ 12192000 w 13140715"/>
                  <a:gd name="connsiteY2" fmla="*/ 5144401 h 6858001"/>
                  <a:gd name="connsiteX3" fmla="*/ 13140715 w 13140715"/>
                  <a:gd name="connsiteY3" fmla="*/ 5144401 h 6858001"/>
                  <a:gd name="connsiteX4" fmla="*/ 13140715 w 13140715"/>
                  <a:gd name="connsiteY4" fmla="*/ 6858001 h 6858001"/>
                  <a:gd name="connsiteX5" fmla="*/ 12192000 w 13140715"/>
                  <a:gd name="connsiteY5" fmla="*/ 6858001 h 6858001"/>
                  <a:gd name="connsiteX6" fmla="*/ 12192000 w 13140715"/>
                  <a:gd name="connsiteY6" fmla="*/ 6858000 h 6858001"/>
                  <a:gd name="connsiteX7" fmla="*/ 0 w 13140715"/>
                  <a:gd name="connsiteY7" fmla="*/ 6858000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1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5144401"/>
                    </a:lnTo>
                    <a:lnTo>
                      <a:pt x="13140715" y="5144401"/>
                    </a:lnTo>
                    <a:lnTo>
                      <a:pt x="13140715" y="6858001"/>
                    </a:lnTo>
                    <a:lnTo>
                      <a:pt x="12192000" y="6858001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6"/>
              </a:solidFill>
              <a:ln w="19050" cap="rnd">
                <a:solidFill>
                  <a:schemeClr val="accent6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E75168-E3CA-4A46-923B-4E0D5F82F43D}"/>
                  </a:ext>
                </a:extLst>
              </p:cNvPr>
              <p:cNvSpPr/>
              <p:nvPr/>
            </p:nvSpPr>
            <p:spPr>
              <a:xfrm>
                <a:off x="722871" y="672434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Ordner mit einfarbiger Füllung">
              <a:extLst>
                <a:ext uri="{FF2B5EF4-FFF2-40B4-BE49-F238E27FC236}">
                  <a16:creationId xmlns:a16="http://schemas.microsoft.com/office/drawing/2014/main" id="{0B1FAF4A-5B76-4D6B-B95F-7A00BCA28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92000" y="5544752"/>
              <a:ext cx="914400" cy="914400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8156" y="6563995"/>
            <a:ext cx="2283243" cy="228600"/>
          </a:xfrm>
        </p:spPr>
        <p:txBody>
          <a:bodyPr/>
          <a:lstStyle/>
          <a:p>
            <a:pPr rtl="0"/>
            <a:fld id="{C904900C-B1E8-4611-943C-F71B2CD5C61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C4A9399B-DA92-4E84-9466-AF094C6D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520" y="702156"/>
            <a:ext cx="10117288" cy="842261"/>
          </a:xfrm>
        </p:spPr>
        <p:txBody>
          <a:bodyPr/>
          <a:lstStyle/>
          <a:p>
            <a:r>
              <a:rPr lang="de-DE" dirty="0"/>
              <a:t>Vor-</a:t>
            </a:r>
            <a:r>
              <a:rPr lang="en-US" dirty="0"/>
              <a:t> und </a:t>
            </a:r>
            <a:r>
              <a:rPr lang="de-DE" dirty="0"/>
              <a:t>Nachteile</a:t>
            </a:r>
          </a:p>
        </p:txBody>
      </p:sp>
      <p:sp>
        <p:nvSpPr>
          <p:cNvPr id="27" name="Einfache Anwendung">
            <a:extLst>
              <a:ext uri="{FF2B5EF4-FFF2-40B4-BE49-F238E27FC236}">
                <a16:creationId xmlns:a16="http://schemas.microsoft.com/office/drawing/2014/main" id="{010DD9B4-70F1-47BE-AB32-06AD05EFE52A}"/>
              </a:ext>
            </a:extLst>
          </p:cNvPr>
          <p:cNvSpPr/>
          <p:nvPr/>
        </p:nvSpPr>
        <p:spPr>
          <a:xfrm>
            <a:off x="4903042" y="3106011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Einfache Anwendung</a:t>
            </a:r>
          </a:p>
        </p:txBody>
      </p:sp>
      <p:sp>
        <p:nvSpPr>
          <p:cNvPr id="28" name="Rectangle: Rounded Corners 5">
            <a:extLst>
              <a:ext uri="{FF2B5EF4-FFF2-40B4-BE49-F238E27FC236}">
                <a16:creationId xmlns:a16="http://schemas.microsoft.com/office/drawing/2014/main" id="{A77B15B5-80AB-410B-8824-04CF2F0FBD0C}"/>
              </a:ext>
            </a:extLst>
          </p:cNvPr>
          <p:cNvSpPr/>
          <p:nvPr/>
        </p:nvSpPr>
        <p:spPr>
          <a:xfrm>
            <a:off x="4903042" y="3118984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Übersichtsverlust bei zu großer Kartenmenge</a:t>
            </a:r>
          </a:p>
        </p:txBody>
      </p:sp>
      <p:sp>
        <p:nvSpPr>
          <p:cNvPr id="29" name="Rectangle: Rounded Corners 6">
            <a:extLst>
              <a:ext uri="{FF2B5EF4-FFF2-40B4-BE49-F238E27FC236}">
                <a16:creationId xmlns:a16="http://schemas.microsoft.com/office/drawing/2014/main" id="{CFAD69B0-474A-4AD2-BCDC-CD9EE5506766}"/>
              </a:ext>
            </a:extLst>
          </p:cNvPr>
          <p:cNvSpPr/>
          <p:nvPr/>
        </p:nvSpPr>
        <p:spPr>
          <a:xfrm>
            <a:off x="4909424" y="3104492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Lässt sich in die meisten Situationen integrieren</a:t>
            </a:r>
          </a:p>
        </p:txBody>
      </p:sp>
      <p:sp>
        <p:nvSpPr>
          <p:cNvPr id="30" name="Flowchart: Alternate Process 9">
            <a:extLst>
              <a:ext uri="{FF2B5EF4-FFF2-40B4-BE49-F238E27FC236}">
                <a16:creationId xmlns:a16="http://schemas.microsoft.com/office/drawing/2014/main" id="{1564AAD0-BBAE-4282-B085-462D3B2D936B}"/>
              </a:ext>
            </a:extLst>
          </p:cNvPr>
          <p:cNvSpPr/>
          <p:nvPr/>
        </p:nvSpPr>
        <p:spPr>
          <a:xfrm>
            <a:off x="1404217" y="5853237"/>
            <a:ext cx="3961054" cy="52502"/>
          </a:xfrm>
          <a:prstGeom prst="flowChartAlternateProcess">
            <a:avLst/>
          </a:prstGeom>
          <a:solidFill>
            <a:srgbClr val="465359"/>
          </a:solidFill>
          <a:ln w="9525">
            <a:solidFill>
              <a:srgbClr val="969F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D4EE11CA-B9C9-4F47-A848-BB38C1FE219C}"/>
              </a:ext>
            </a:extLst>
          </p:cNvPr>
          <p:cNvSpPr txBox="1"/>
          <p:nvPr/>
        </p:nvSpPr>
        <p:spPr>
          <a:xfrm>
            <a:off x="3085759" y="5953086"/>
            <a:ext cx="597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PRO</a:t>
            </a:r>
            <a:endParaRPr lang="de-DE" dirty="0">
              <a:latin typeface="+mj-lt"/>
            </a:endParaRPr>
          </a:p>
        </p:txBody>
      </p:sp>
      <p:sp>
        <p:nvSpPr>
          <p:cNvPr id="32" name="Flowchart: Alternate Process 11">
            <a:extLst>
              <a:ext uri="{FF2B5EF4-FFF2-40B4-BE49-F238E27FC236}">
                <a16:creationId xmlns:a16="http://schemas.microsoft.com/office/drawing/2014/main" id="{E819E272-69AF-4061-8540-3DBD5AF24268}"/>
              </a:ext>
            </a:extLst>
          </p:cNvPr>
          <p:cNvSpPr/>
          <p:nvPr/>
        </p:nvSpPr>
        <p:spPr>
          <a:xfrm>
            <a:off x="7649754" y="5857120"/>
            <a:ext cx="3961054" cy="52502"/>
          </a:xfrm>
          <a:prstGeom prst="flowChartAlternateProcess">
            <a:avLst/>
          </a:prstGeom>
          <a:solidFill>
            <a:srgbClr val="465359"/>
          </a:solidFill>
          <a:ln w="9525">
            <a:solidFill>
              <a:srgbClr val="969F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8464467E-FF79-4476-98CC-68B57E0AA5B3}"/>
              </a:ext>
            </a:extLst>
          </p:cNvPr>
          <p:cNvSpPr txBox="1"/>
          <p:nvPr/>
        </p:nvSpPr>
        <p:spPr>
          <a:xfrm>
            <a:off x="9257875" y="5943303"/>
            <a:ext cx="885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Contra</a:t>
            </a:r>
            <a:endParaRPr lang="de-DE" dirty="0">
              <a:latin typeface="+mj-lt"/>
            </a:endParaRPr>
          </a:p>
        </p:txBody>
      </p:sp>
      <p:sp>
        <p:nvSpPr>
          <p:cNvPr id="34" name="Rectangle: Rounded Corners 16">
            <a:extLst>
              <a:ext uri="{FF2B5EF4-FFF2-40B4-BE49-F238E27FC236}">
                <a16:creationId xmlns:a16="http://schemas.microsoft.com/office/drawing/2014/main" id="{B746295B-6F29-46A7-9BEB-1FEED2E9A8D7}"/>
              </a:ext>
            </a:extLst>
          </p:cNvPr>
          <p:cNvSpPr/>
          <p:nvPr/>
        </p:nvSpPr>
        <p:spPr>
          <a:xfrm>
            <a:off x="4903042" y="3109730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Arbeit muss sich in einzelne Schritte aufteilen lassen</a:t>
            </a:r>
          </a:p>
        </p:txBody>
      </p:sp>
      <p:sp>
        <p:nvSpPr>
          <p:cNvPr id="35" name="Rectangle: Rounded Corners 18">
            <a:extLst>
              <a:ext uri="{FF2B5EF4-FFF2-40B4-BE49-F238E27FC236}">
                <a16:creationId xmlns:a16="http://schemas.microsoft.com/office/drawing/2014/main" id="{F52B86DE-B095-4295-B90D-A15BB5249BAD}"/>
              </a:ext>
            </a:extLst>
          </p:cNvPr>
          <p:cNvSpPr/>
          <p:nvPr/>
        </p:nvSpPr>
        <p:spPr>
          <a:xfrm>
            <a:off x="4899264" y="3113483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Gleichmäßiger Workflow</a:t>
            </a:r>
            <a:endParaRPr lang="de-DE" dirty="0">
              <a:effectLst/>
            </a:endParaRPr>
          </a:p>
        </p:txBody>
      </p:sp>
      <p:sp>
        <p:nvSpPr>
          <p:cNvPr id="36" name="Rectangle: Rounded Corners 20">
            <a:extLst>
              <a:ext uri="{FF2B5EF4-FFF2-40B4-BE49-F238E27FC236}">
                <a16:creationId xmlns:a16="http://schemas.microsoft.com/office/drawing/2014/main" id="{7C3EF8A4-E409-42D0-BEDD-2E37E3228DA2}"/>
              </a:ext>
            </a:extLst>
          </p:cNvPr>
          <p:cNvSpPr/>
          <p:nvPr/>
        </p:nvSpPr>
        <p:spPr>
          <a:xfrm>
            <a:off x="4892882" y="3113483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Bedarf übergreifender Kompetenzen</a:t>
            </a:r>
          </a:p>
        </p:txBody>
      </p:sp>
      <p:sp>
        <p:nvSpPr>
          <p:cNvPr id="37" name="Rectangle: Rounded Corners 21">
            <a:extLst>
              <a:ext uri="{FF2B5EF4-FFF2-40B4-BE49-F238E27FC236}">
                <a16:creationId xmlns:a16="http://schemas.microsoft.com/office/drawing/2014/main" id="{1F1B7EBB-C9E0-43D6-8090-870087953FF3}"/>
              </a:ext>
            </a:extLst>
          </p:cNvPr>
          <p:cNvSpPr/>
          <p:nvPr/>
        </p:nvSpPr>
        <p:spPr>
          <a:xfrm>
            <a:off x="4888032" y="3114172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Offenes/Leicht verständliches Prinzip</a:t>
            </a:r>
            <a:endParaRPr lang="de-DE" dirty="0">
              <a:effectLst/>
            </a:endParaRPr>
          </a:p>
        </p:txBody>
      </p:sp>
      <p:sp>
        <p:nvSpPr>
          <p:cNvPr id="38" name="Rectangle: Rounded Corners 25">
            <a:extLst>
              <a:ext uri="{FF2B5EF4-FFF2-40B4-BE49-F238E27FC236}">
                <a16:creationId xmlns:a16="http://schemas.microsoft.com/office/drawing/2014/main" id="{97C11118-8F18-4CA2-8CC1-B0390B63F5AE}"/>
              </a:ext>
            </a:extLst>
          </p:cNvPr>
          <p:cNvSpPr/>
          <p:nvPr/>
        </p:nvSpPr>
        <p:spPr>
          <a:xfrm>
            <a:off x="4931660" y="3113258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Mehr Transparenz</a:t>
            </a:r>
          </a:p>
        </p:txBody>
      </p:sp>
      <p:sp>
        <p:nvSpPr>
          <p:cNvPr id="39" name="Rectangle: Rounded Corners 26">
            <a:extLst>
              <a:ext uri="{FF2B5EF4-FFF2-40B4-BE49-F238E27FC236}">
                <a16:creationId xmlns:a16="http://schemas.microsoft.com/office/drawing/2014/main" id="{900F3BB0-A8EC-4B3A-81E9-AA39CE4B6D40}"/>
              </a:ext>
            </a:extLst>
          </p:cNvPr>
          <p:cNvSpPr/>
          <p:nvPr/>
        </p:nvSpPr>
        <p:spPr>
          <a:xfrm>
            <a:off x="4931660" y="3151194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Stetige Verbesserung</a:t>
            </a:r>
          </a:p>
        </p:txBody>
      </p:sp>
      <p:sp>
        <p:nvSpPr>
          <p:cNvPr id="40" name="Rectangle: Rounded Corners 27">
            <a:extLst>
              <a:ext uri="{FF2B5EF4-FFF2-40B4-BE49-F238E27FC236}">
                <a16:creationId xmlns:a16="http://schemas.microsoft.com/office/drawing/2014/main" id="{BF43A3D6-32A7-46ED-9882-2850D0ACA185}"/>
              </a:ext>
            </a:extLst>
          </p:cNvPr>
          <p:cNvSpPr/>
          <p:nvPr/>
        </p:nvSpPr>
        <p:spPr>
          <a:xfrm>
            <a:off x="4901153" y="3121539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fehlende</a:t>
            </a:r>
            <a:r>
              <a:rPr lang="en-US" dirty="0"/>
              <a:t> </a:t>
            </a:r>
            <a:r>
              <a:rPr lang="en-US" dirty="0" err="1"/>
              <a:t>Zeitplanung</a:t>
            </a:r>
            <a:endParaRPr lang="de-DE" dirty="0"/>
          </a:p>
        </p:txBody>
      </p:sp>
      <p:sp>
        <p:nvSpPr>
          <p:cNvPr id="41" name="Rectangle: Rounded Corners 28">
            <a:extLst>
              <a:ext uri="{FF2B5EF4-FFF2-40B4-BE49-F238E27FC236}">
                <a16:creationId xmlns:a16="http://schemas.microsoft.com/office/drawing/2014/main" id="{E6F36EAC-F43A-44A6-95CB-12A362D91092}"/>
              </a:ext>
            </a:extLst>
          </p:cNvPr>
          <p:cNvSpPr/>
          <p:nvPr/>
        </p:nvSpPr>
        <p:spPr>
          <a:xfrm>
            <a:off x="4870646" y="3119119"/>
            <a:ext cx="2880000" cy="648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kein</a:t>
            </a:r>
            <a:r>
              <a:rPr lang="en-US" dirty="0"/>
              <a:t> </a:t>
            </a:r>
            <a:r>
              <a:rPr lang="en-US" dirty="0" err="1"/>
              <a:t>Kundenspezifisches</a:t>
            </a:r>
            <a:r>
              <a:rPr lang="en-US" dirty="0"/>
              <a:t> Feedback </a:t>
            </a:r>
            <a:r>
              <a:rPr lang="en-US" dirty="0" err="1"/>
              <a:t>vorgesehen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2536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192 0.30417 L -0.00013 0.00093 " pathEditMode="relative" rAng="0" ptsTypes="AA">
                                      <p:cBhvr>
                                        <p:cTn id="10" dur="3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83" y="-1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92 L 0.27722 0.30232 " pathEditMode="relative" rAng="0" ptsTypes="AA">
                                      <p:cBhvr>
                                        <p:cTn id="17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67" y="1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00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0.24336 0.21088 " pathEditMode="relative" rAng="0" ptsTypes="AA">
                                      <p:cBhvr>
                                        <p:cTn id="24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74" y="1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9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L 0.27552 0.21181 " pathEditMode="relative" rAng="0" ptsTypes="AA">
                                      <p:cBhvr>
                                        <p:cTn id="31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76" y="10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59259E-6 L -0.24153 0.11666 " pathEditMode="relative" rAng="0" ptsTypes="AA">
                                      <p:cBhvr>
                                        <p:cTn id="38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83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3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000"/>
                            </p:stCondLst>
                            <p:childTnLst>
                              <p:par>
                                <p:cTn id="4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0.27643 0.1166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15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400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11111E-6 L -0.24154 0.02338 " pathEditMode="relative" rAng="0" ptsTypes="AA">
                                      <p:cBhvr>
                                        <p:cTn id="52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83" y="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1000"/>
                            </p:stCondLst>
                            <p:childTnLst>
                              <p:par>
                                <p:cTn id="5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7 L 0.275 0.01922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76" y="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4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8000"/>
                            </p:stCondLst>
                            <p:childTnLst>
                              <p:par>
                                <p:cTn id="6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59259E-6 L -0.24519 -0.07153 " pathEditMode="relative" rAng="0" ptsTypes="AA">
                                      <p:cBhvr>
                                        <p:cTn id="66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66" y="-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463 L 0.27786 -0.07407 " pathEditMode="relative" rAng="0" ptsTypes="AA">
                                      <p:cBhvr>
                                        <p:cTn id="73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2" y="-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8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2000"/>
                            </p:stCondLst>
                            <p:childTnLst>
                              <p:par>
                                <p:cTn id="7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-0.24519 -0.17315 " pathEditMode="relative" rAng="0" ptsTypes="AA">
                                      <p:cBhvr>
                                        <p:cTn id="80" dur="3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66" y="-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08B80-54FE-4D93-ADD2-8FBCA80C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Vor- Und Nachteile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827CC680-1CE7-47AA-999B-934351B0D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968850"/>
              </p:ext>
            </p:extLst>
          </p:nvPr>
        </p:nvGraphicFramePr>
        <p:xfrm>
          <a:off x="581025" y="2341563"/>
          <a:ext cx="1102995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73919491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564259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Vorteile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Nachteile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31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Einfache Anwendung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Übersichtsverlust bei zu großer Kartenmenge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6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Lässt sich in die meisten Situationen integrieren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Arbeit muss sich in einzelne Schritte aufteilen lassen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72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Gleichmäßiger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Bedarf übergreifender Kompetenzen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51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Offenes/Leicht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fehlende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Zeitplanung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762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Mehr Transparenz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kein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Kundenspezifisches</a:t>
                      </a:r>
                      <a:r>
                        <a:rPr lang="en-US" sz="2000" dirty="0"/>
                        <a:t> Feedback </a:t>
                      </a:r>
                      <a:r>
                        <a:rPr lang="en-US" sz="2000" dirty="0" err="1"/>
                        <a:t>vorgesehen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579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Stetige Verbesserung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9348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F5F1BC-1195-4E37-8922-5C2EF3DD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6471A2-2501-4DD3-A65F-08F0E61F5B72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61442-D97C-4373-B605-77134C9B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6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ECE2F31-0E23-400B-A002-BC098780472E}"/>
              </a:ext>
            </a:extLst>
          </p:cNvPr>
          <p:cNvGrpSpPr/>
          <p:nvPr/>
        </p:nvGrpSpPr>
        <p:grpSpPr>
          <a:xfrm>
            <a:off x="0" y="-4448"/>
            <a:ext cx="13140715" cy="6858000"/>
            <a:chOff x="0" y="1"/>
            <a:chExt cx="13140715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201CE-F6C6-4664-981B-90FB3A163351}"/>
                </a:ext>
              </a:extLst>
            </p:cNvPr>
            <p:cNvGrpSpPr/>
            <p:nvPr/>
          </p:nvGrpSpPr>
          <p:grpSpPr>
            <a:xfrm>
              <a:off x="0" y="1"/>
              <a:ext cx="13140715" cy="6858000"/>
              <a:chOff x="0" y="1"/>
              <a:chExt cx="13140715" cy="68580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F57304-53CD-4F46-AA81-9C22095EDD64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3140715 w 13140715"/>
                  <a:gd name="connsiteY2" fmla="*/ 0 h 6858000"/>
                  <a:gd name="connsiteX3" fmla="*/ 13140715 w 13140715"/>
                  <a:gd name="connsiteY3" fmla="*/ 1713600 h 6858000"/>
                  <a:gd name="connsiteX4" fmla="*/ 12192000 w 13140715"/>
                  <a:gd name="connsiteY4" fmla="*/ 1713600 h 6858000"/>
                  <a:gd name="connsiteX5" fmla="*/ 12192000 w 13140715"/>
                  <a:gd name="connsiteY5" fmla="*/ 6858000 h 6858000"/>
                  <a:gd name="connsiteX6" fmla="*/ 0 w 13140715"/>
                  <a:gd name="connsiteY6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3140715" y="0"/>
                    </a:lnTo>
                    <a:lnTo>
                      <a:pt x="13140715" y="1713600"/>
                    </a:lnTo>
                    <a:lnTo>
                      <a:pt x="12192000" y="1713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339DEB-55AE-4960-9FD0-1A6FE5ED7523}"/>
                  </a:ext>
                </a:extLst>
              </p:cNvPr>
              <p:cNvSpPr/>
              <p:nvPr/>
            </p:nvSpPr>
            <p:spPr>
              <a:xfrm>
                <a:off x="1298157" y="363600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pic>
          <p:nvPicPr>
            <p:cNvPr id="20" name="Grafik 19" descr="Bambus mit einfarbiger Füllung">
              <a:extLst>
                <a:ext uri="{FF2B5EF4-FFF2-40B4-BE49-F238E27FC236}">
                  <a16:creationId xmlns:a16="http://schemas.microsoft.com/office/drawing/2014/main" id="{7D999156-C2CD-4B10-9CB9-11E9510D3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23940" y="412887"/>
              <a:ext cx="850520" cy="850520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923267E-DB40-4D2D-BD52-83775668EC7B}"/>
              </a:ext>
            </a:extLst>
          </p:cNvPr>
          <p:cNvGrpSpPr/>
          <p:nvPr/>
        </p:nvGrpSpPr>
        <p:grpSpPr>
          <a:xfrm>
            <a:off x="0" y="-13344"/>
            <a:ext cx="13140715" cy="6858000"/>
            <a:chOff x="-2" y="-3"/>
            <a:chExt cx="1314071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2B826-D0A4-4835-A701-CB4919AE6047}"/>
                </a:ext>
              </a:extLst>
            </p:cNvPr>
            <p:cNvGrpSpPr/>
            <p:nvPr/>
          </p:nvGrpSpPr>
          <p:grpSpPr>
            <a:xfrm>
              <a:off x="-2" y="-3"/>
              <a:ext cx="13140715" cy="6858000"/>
              <a:chOff x="0" y="1"/>
              <a:chExt cx="13140715" cy="6858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AA2CF1B-FA35-494C-BE76-BE6D029A0EC3}"/>
                  </a:ext>
                </a:extLst>
              </p:cNvPr>
              <p:cNvSpPr/>
              <p:nvPr/>
            </p:nvSpPr>
            <p:spPr>
              <a:xfrm>
                <a:off x="0" y="1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1715400 h 6858000"/>
                  <a:gd name="connsiteX3" fmla="*/ 13140715 w 13140715"/>
                  <a:gd name="connsiteY3" fmla="*/ 1715400 h 6858000"/>
                  <a:gd name="connsiteX4" fmla="*/ 13140715 w 13140715"/>
                  <a:gd name="connsiteY4" fmla="*/ 3429000 h 6858000"/>
                  <a:gd name="connsiteX5" fmla="*/ 12192000 w 13140715"/>
                  <a:gd name="connsiteY5" fmla="*/ 34290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15400"/>
                    </a:lnTo>
                    <a:lnTo>
                      <a:pt x="13140715" y="1715400"/>
                    </a:lnTo>
                    <a:lnTo>
                      <a:pt x="13140715" y="3429000"/>
                    </a:lnTo>
                    <a:lnTo>
                      <a:pt x="12192000" y="34290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056B7F-8A20-4B8D-9331-17029663E904}"/>
                  </a:ext>
                </a:extLst>
              </p:cNvPr>
              <p:cNvSpPr/>
              <p:nvPr/>
            </p:nvSpPr>
            <p:spPr>
              <a:xfrm>
                <a:off x="1298157" y="363599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7" name="Grafik 6" descr="Zahnräder">
              <a:extLst>
                <a:ext uri="{FF2B5EF4-FFF2-40B4-BE49-F238E27FC236}">
                  <a16:creationId xmlns:a16="http://schemas.microsoft.com/office/drawing/2014/main" id="{AA67391B-3579-482C-9F0F-EB00BD58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208788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52640F6-5607-4442-82E4-3F2F43D8FCD4}"/>
              </a:ext>
            </a:extLst>
          </p:cNvPr>
          <p:cNvGrpSpPr/>
          <p:nvPr/>
        </p:nvGrpSpPr>
        <p:grpSpPr>
          <a:xfrm>
            <a:off x="0" y="-13346"/>
            <a:ext cx="13164756" cy="6858000"/>
            <a:chOff x="-1" y="0"/>
            <a:chExt cx="13164756" cy="6858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097626-232C-4327-8112-41AACE38550C}"/>
                </a:ext>
              </a:extLst>
            </p:cNvPr>
            <p:cNvGrpSpPr/>
            <p:nvPr/>
          </p:nvGrpSpPr>
          <p:grpSpPr>
            <a:xfrm>
              <a:off x="-1" y="0"/>
              <a:ext cx="13140715" cy="6858000"/>
              <a:chOff x="-248281" y="351096"/>
              <a:chExt cx="13140715" cy="685800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5B65C1B-C1F6-4859-AB14-460219C7AF8D}"/>
                  </a:ext>
                </a:extLst>
              </p:cNvPr>
              <p:cNvSpPr/>
              <p:nvPr/>
            </p:nvSpPr>
            <p:spPr>
              <a:xfrm>
                <a:off x="-248281" y="351096"/>
                <a:ext cx="13140715" cy="6858000"/>
              </a:xfrm>
              <a:custGeom>
                <a:avLst/>
                <a:gdLst>
                  <a:gd name="connsiteX0" fmla="*/ 0 w 13140715"/>
                  <a:gd name="connsiteY0" fmla="*/ 0 h 6858000"/>
                  <a:gd name="connsiteX1" fmla="*/ 12192000 w 13140715"/>
                  <a:gd name="connsiteY1" fmla="*/ 0 h 6858000"/>
                  <a:gd name="connsiteX2" fmla="*/ 12192000 w 13140715"/>
                  <a:gd name="connsiteY2" fmla="*/ 3429000 h 6858000"/>
                  <a:gd name="connsiteX3" fmla="*/ 13140715 w 13140715"/>
                  <a:gd name="connsiteY3" fmla="*/ 3429000 h 6858000"/>
                  <a:gd name="connsiteX4" fmla="*/ 13140715 w 13140715"/>
                  <a:gd name="connsiteY4" fmla="*/ 5142600 h 6858000"/>
                  <a:gd name="connsiteX5" fmla="*/ 12192000 w 13140715"/>
                  <a:gd name="connsiteY5" fmla="*/ 5142600 h 6858000"/>
                  <a:gd name="connsiteX6" fmla="*/ 12192000 w 13140715"/>
                  <a:gd name="connsiteY6" fmla="*/ 6858000 h 6858000"/>
                  <a:gd name="connsiteX7" fmla="*/ 0 w 13140715"/>
                  <a:gd name="connsiteY7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429000"/>
                    </a:lnTo>
                    <a:lnTo>
                      <a:pt x="13140715" y="3429000"/>
                    </a:lnTo>
                    <a:lnTo>
                      <a:pt x="13140715" y="5142600"/>
                    </a:lnTo>
                    <a:lnTo>
                      <a:pt x="12192000" y="514260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3D8E59-CADC-4A47-8863-F3F31178A74D}"/>
                  </a:ext>
                </a:extLst>
              </p:cNvPr>
              <p:cNvSpPr/>
              <p:nvPr/>
            </p:nvSpPr>
            <p:spPr>
              <a:xfrm>
                <a:off x="1049876" y="714696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1" name="Grafik 20" descr="Kommentar Feuer mit einfarbiger Füllung">
              <a:extLst>
                <a:ext uri="{FF2B5EF4-FFF2-40B4-BE49-F238E27FC236}">
                  <a16:creationId xmlns:a16="http://schemas.microsoft.com/office/drawing/2014/main" id="{75DF262D-6B6D-47F0-9C21-614C46AC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33645" y="3757961"/>
              <a:ext cx="1031110" cy="103111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721C1E4-CAB1-4831-B192-6AD58C8EA1DB}"/>
              </a:ext>
            </a:extLst>
          </p:cNvPr>
          <p:cNvGrpSpPr/>
          <p:nvPr/>
        </p:nvGrpSpPr>
        <p:grpSpPr>
          <a:xfrm>
            <a:off x="-1" y="-3188"/>
            <a:ext cx="13140715" cy="6858001"/>
            <a:chOff x="-1" y="-2"/>
            <a:chExt cx="1314071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D0EF34-64CF-4FE1-AA4B-2D18EED918F4}"/>
                </a:ext>
              </a:extLst>
            </p:cNvPr>
            <p:cNvGrpSpPr/>
            <p:nvPr/>
          </p:nvGrpSpPr>
          <p:grpSpPr>
            <a:xfrm>
              <a:off x="-1" y="-2"/>
              <a:ext cx="13140715" cy="6858001"/>
              <a:chOff x="-575286" y="308835"/>
              <a:chExt cx="13140715" cy="685800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3A59026-03F5-467E-93CB-71CDF21B1CCE}"/>
                  </a:ext>
                </a:extLst>
              </p:cNvPr>
              <p:cNvSpPr/>
              <p:nvPr/>
            </p:nvSpPr>
            <p:spPr>
              <a:xfrm>
                <a:off x="-575286" y="308835"/>
                <a:ext cx="13140715" cy="6858001"/>
              </a:xfrm>
              <a:custGeom>
                <a:avLst/>
                <a:gdLst>
                  <a:gd name="connsiteX0" fmla="*/ 0 w 13140715"/>
                  <a:gd name="connsiteY0" fmla="*/ 0 h 6858001"/>
                  <a:gd name="connsiteX1" fmla="*/ 12192000 w 13140715"/>
                  <a:gd name="connsiteY1" fmla="*/ 0 h 6858001"/>
                  <a:gd name="connsiteX2" fmla="*/ 12192000 w 13140715"/>
                  <a:gd name="connsiteY2" fmla="*/ 5144401 h 6858001"/>
                  <a:gd name="connsiteX3" fmla="*/ 13140715 w 13140715"/>
                  <a:gd name="connsiteY3" fmla="*/ 5144401 h 6858001"/>
                  <a:gd name="connsiteX4" fmla="*/ 13140715 w 13140715"/>
                  <a:gd name="connsiteY4" fmla="*/ 6858001 h 6858001"/>
                  <a:gd name="connsiteX5" fmla="*/ 12192000 w 13140715"/>
                  <a:gd name="connsiteY5" fmla="*/ 6858001 h 6858001"/>
                  <a:gd name="connsiteX6" fmla="*/ 12192000 w 13140715"/>
                  <a:gd name="connsiteY6" fmla="*/ 6858000 h 6858001"/>
                  <a:gd name="connsiteX7" fmla="*/ 0 w 13140715"/>
                  <a:gd name="connsiteY7" fmla="*/ 6858000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0715" h="6858001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5144401"/>
                    </a:lnTo>
                    <a:lnTo>
                      <a:pt x="13140715" y="5144401"/>
                    </a:lnTo>
                    <a:lnTo>
                      <a:pt x="13140715" y="6858001"/>
                    </a:lnTo>
                    <a:lnTo>
                      <a:pt x="12192000" y="6858001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accent6"/>
              </a:solidFill>
              <a:ln w="19050" cap="rnd">
                <a:solidFill>
                  <a:schemeClr val="accent6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E75168-E3CA-4A46-923B-4E0D5F82F43D}"/>
                  </a:ext>
                </a:extLst>
              </p:cNvPr>
              <p:cNvSpPr/>
              <p:nvPr/>
            </p:nvSpPr>
            <p:spPr>
              <a:xfrm>
                <a:off x="722871" y="672434"/>
                <a:ext cx="10544400" cy="6130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Ordner mit einfarbiger Füllung">
              <a:extLst>
                <a:ext uri="{FF2B5EF4-FFF2-40B4-BE49-F238E27FC236}">
                  <a16:creationId xmlns:a16="http://schemas.microsoft.com/office/drawing/2014/main" id="{0B1FAF4A-5B76-4D6B-B95F-7A00BCA28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192000" y="5544752"/>
              <a:ext cx="914400" cy="914400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226A-3945-4FD4-9AA9-A9C3FB60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8156" y="6563995"/>
            <a:ext cx="2283243" cy="228600"/>
          </a:xfrm>
        </p:spPr>
        <p:txBody>
          <a:bodyPr/>
          <a:lstStyle/>
          <a:p>
            <a:pPr rtl="0"/>
            <a:fld id="{C904900C-B1E8-4611-943C-F71B2CD5C61E}" type="datetime1">
              <a:rPr lang="de-DE" smtClean="0"/>
              <a:t>23.12.2021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83A7-9E24-4F74-A81E-BBF7B3B2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 dirty="0"/>
              <a:t>IF11C - Sandra Saueressig, Lijon Fogel, Kevin  </a:t>
            </a:r>
            <a:r>
              <a:rPr lang="en-US" dirty="0" err="1"/>
              <a:t>Klockow</a:t>
            </a:r>
            <a:r>
              <a:rPr lang="en-US" dirty="0"/>
              <a:t> - Kanban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0FD8C9E6-2709-439E-9808-8BEACE00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518" y="357890"/>
            <a:ext cx="9390918" cy="1325563"/>
          </a:xfrm>
        </p:spPr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27B3EF9F-3E03-42F1-A919-D19CE3CB2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518" y="1793799"/>
            <a:ext cx="9980289" cy="3084704"/>
          </a:xfrm>
        </p:spPr>
        <p:txBody>
          <a:bodyPr>
            <a:normAutofit fontScale="85000" lnSpcReduction="20000"/>
          </a:bodyPr>
          <a:lstStyle/>
          <a:p>
            <a:r>
              <a:rPr lang="de-DE" dirty="0">
                <a:hlinkClick r:id="rId10"/>
              </a:rPr>
              <a:t>Kanban: Was ist das? (Evolutionäres Change Management) (it-agile.de)</a:t>
            </a:r>
            <a:endParaRPr lang="de-DE" dirty="0"/>
          </a:p>
          <a:p>
            <a:r>
              <a:rPr lang="de-DE" dirty="0">
                <a:hlinkClick r:id="rId11"/>
              </a:rPr>
              <a:t>Kanban: Eine kurze Einführung | Atlassian</a:t>
            </a:r>
            <a:endParaRPr lang="de-DE" dirty="0"/>
          </a:p>
          <a:p>
            <a:r>
              <a:rPr lang="de-DE" dirty="0">
                <a:hlinkClick r:id="rId12"/>
              </a:rPr>
              <a:t>Was ist Kanban? Definition und Prinzipien (kanbanize.com)</a:t>
            </a:r>
            <a:endParaRPr lang="de-DE" dirty="0"/>
          </a:p>
          <a:p>
            <a:r>
              <a:rPr lang="de-DE" dirty="0">
                <a:hlinkClick r:id="rId13"/>
              </a:rPr>
              <a:t>Kanban was ist das? Definition &amp; Erklärung </a:t>
            </a:r>
            <a:r>
              <a:rPr lang="de-DE" dirty="0">
                <a:hlinkClick r:id="rId14"/>
              </a:rPr>
              <a:t>–</a:t>
            </a:r>
            <a:r>
              <a:rPr lang="de-DE" dirty="0">
                <a:hlinkClick r:id="rId13"/>
              </a:rPr>
              <a:t> IONOS</a:t>
            </a:r>
            <a:endParaRPr lang="de-DE" dirty="0"/>
          </a:p>
          <a:p>
            <a:r>
              <a:rPr lang="de-DE" dirty="0">
                <a:hlinkClick r:id="rId14"/>
              </a:rPr>
              <a:t>Jira | Software zur Vorgangs- und Projektverfolgung (atlassian.com)</a:t>
            </a:r>
            <a:endParaRPr lang="de-DE" dirty="0"/>
          </a:p>
          <a:p>
            <a:r>
              <a:rPr lang="de-DE" dirty="0">
                <a:hlinkClick r:id="rId15"/>
              </a:rPr>
              <a:t>Kanban - lepros GmbH</a:t>
            </a:r>
            <a:endParaRPr lang="de-DE" dirty="0"/>
          </a:p>
          <a:p>
            <a:r>
              <a:rPr lang="de-DE" dirty="0">
                <a:hlinkClick r:id="rId16"/>
              </a:rPr>
              <a:t>Kanban Definition – Was steckt dahinter? | REFA</a:t>
            </a:r>
            <a:endParaRPr lang="de-DE" dirty="0"/>
          </a:p>
          <a:p>
            <a:r>
              <a:rPr lang="de-DE" dirty="0">
                <a:hlinkClick r:id="rId17"/>
              </a:rPr>
              <a:t>Kanban-Board in 6 Minuten Erklärt | Kanban Tool</a:t>
            </a:r>
            <a:endParaRPr lang="de-DE" dirty="0"/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545A6EB4-2274-4A25-B205-0530D101676A}"/>
              </a:ext>
            </a:extLst>
          </p:cNvPr>
          <p:cNvSpPr txBox="1"/>
          <p:nvPr/>
        </p:nvSpPr>
        <p:spPr>
          <a:xfrm>
            <a:off x="1630518" y="5097210"/>
            <a:ext cx="99802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Vivaldi" panose="03020602050506090804" pitchFamily="66" charset="0"/>
              </a:rPr>
              <a:t>- </a:t>
            </a:r>
            <a:r>
              <a:rPr lang="en-US" sz="6600" b="1" dirty="0">
                <a:effectLst/>
                <a:latin typeface="Vivaldi" panose="03020602050506090804" pitchFamily="66" charset="0"/>
              </a:rPr>
              <a:t>Stop Starting, start finishing -</a:t>
            </a:r>
            <a:endParaRPr lang="en-US" sz="6600" b="1" dirty="0">
              <a:latin typeface="Vivaldi" panose="030206020505060908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875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uiExpand="1" build="p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512</Words>
  <Application>Microsoft Office PowerPoint</Application>
  <PresentationFormat>Widescreen</PresentationFormat>
  <Paragraphs>94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Vivaldi</vt:lpstr>
      <vt:lpstr>Office Theme</vt:lpstr>
      <vt:lpstr>Kanban</vt:lpstr>
      <vt:lpstr>Agenda</vt:lpstr>
      <vt:lpstr>Ursprünge</vt:lpstr>
      <vt:lpstr>Funktionsweise</vt:lpstr>
      <vt:lpstr>Funktionsweise</vt:lpstr>
      <vt:lpstr>Funktionsweise</vt:lpstr>
      <vt:lpstr>Prinzipe</vt:lpstr>
      <vt:lpstr>Vor- und Nachteile</vt:lpstr>
      <vt:lpstr>Vor- Und Nachteile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</dc:title>
  <dc:creator>Lijon Fogel</dc:creator>
  <cp:lastModifiedBy>Lijon Fogel</cp:lastModifiedBy>
  <cp:revision>43</cp:revision>
  <dcterms:created xsi:type="dcterms:W3CDTF">2021-12-16T07:23:03Z</dcterms:created>
  <dcterms:modified xsi:type="dcterms:W3CDTF">2021-12-23T06:59:23Z</dcterms:modified>
</cp:coreProperties>
</file>